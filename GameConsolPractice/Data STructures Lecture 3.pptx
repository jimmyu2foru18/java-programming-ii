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5143500" cx="9144000"/>
  <p:notesSz cx="6858000" cy="9144000"/>
  <p:embeddedFontLst>
    <p:embeddedFont>
      <p:font typeface="Bodoni"/>
      <p:regular r:id="rId66"/>
      <p:bold r:id="rId67"/>
      <p:italic r:id="rId68"/>
      <p:boldItalic r:id="rId69"/>
    </p:embeddedFont>
    <p:embeddedFont>
      <p:font typeface="Gill Sans"/>
      <p:regular r:id="rId70"/>
      <p:bold r:id="rId71"/>
    </p:embeddedFont>
    <p:embeddedFont>
      <p:font typeface="Cutive"/>
      <p:regular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schemas.openxmlformats.org/officeDocument/2006/relationships/font" Target="fonts/Cutive-regular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GillSans-bold.fntdata"/><Relationship Id="rId70" Type="http://schemas.openxmlformats.org/officeDocument/2006/relationships/font" Target="fonts/GillSans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Bodoni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Bodoni-italic.fntdata"/><Relationship Id="rId23" Type="http://schemas.openxmlformats.org/officeDocument/2006/relationships/slide" Target="slides/slide18.xml"/><Relationship Id="rId67" Type="http://schemas.openxmlformats.org/officeDocument/2006/relationships/font" Target="fonts/Bodoni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Bodoni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52413" y="1076325"/>
            <a:ext cx="8643937" cy="1709738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52413" y="2781300"/>
            <a:ext cx="8643937" cy="681037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indent="-2667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6pPr>
            <a:lvl7pPr indent="-2667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7pPr>
            <a:lvl8pPr indent="-2667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8pPr>
            <a:lvl9pPr indent="-2667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1605290" y="-633161"/>
            <a:ext cx="5936196" cy="4443413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895350" y="3648075"/>
            <a:ext cx="7358063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895350" y="4319588"/>
            <a:ext cx="735806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indent="-2667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6pPr>
            <a:lvl7pPr indent="-2667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7pPr>
            <a:lvl8pPr indent="-2667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8pPr>
            <a:lvl9pPr indent="-2667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252413" y="1714500"/>
            <a:ext cx="8643937" cy="1709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3971423" y="566738"/>
            <a:ext cx="5116809" cy="4548274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252413" y="538163"/>
            <a:ext cx="4143375" cy="20478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52413" y="2576513"/>
            <a:ext cx="4143375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indent="-2667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6pPr>
            <a:lvl7pPr indent="-2667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7pPr>
            <a:lvl8pPr indent="-2667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8pPr>
            <a:lvl9pPr indent="-2667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252413" y="133350"/>
            <a:ext cx="8643937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252413" y="133350"/>
            <a:ext cx="8643937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252413" y="1438275"/>
            <a:ext cx="8643937" cy="3324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-355600" lvl="0" marL="4572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4pPr>
            <a:lvl5pPr indent="-355600" lvl="4" marL="22860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5pPr>
            <a:lvl6pPr indent="-2667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6pPr>
            <a:lvl7pPr indent="-2667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7pPr>
            <a:lvl8pPr indent="-2667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8pPr>
            <a:lvl9pPr indent="-2667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4430570" y="1211329"/>
            <a:ext cx="4407463" cy="3917744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252413" y="133350"/>
            <a:ext cx="8643937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252413" y="1438275"/>
            <a:ext cx="4143375" cy="3324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-2667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1pPr>
            <a:lvl2pPr indent="-2667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2pPr>
            <a:lvl3pPr indent="-2667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3pPr>
            <a:lvl4pPr indent="-2667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4pPr>
            <a:lvl5pPr indent="-2667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5pPr>
            <a:lvl6pPr indent="-2667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6pPr>
            <a:lvl7pPr indent="-2667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7pPr>
            <a:lvl8pPr indent="-2667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8pPr>
            <a:lvl9pPr indent="-2667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538163" y="400050"/>
            <a:ext cx="8062912" cy="433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-355600" lvl="0" marL="4572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4pPr>
            <a:lvl5pPr indent="-355600" lvl="4" marL="228600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Char char="•"/>
              <a:defRPr sz="2400"/>
            </a:lvl5pPr>
            <a:lvl6pPr indent="-2667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6pPr>
            <a:lvl7pPr indent="-2667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7pPr>
            <a:lvl8pPr indent="-2667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8pPr>
            <a:lvl9pPr indent="-2667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4652963" y="2143125"/>
            <a:ext cx="4133850" cy="3095625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/>
          <p:nvPr>
            <p:ph idx="3" type="pic"/>
          </p:nvPr>
        </p:nvSpPr>
        <p:spPr>
          <a:xfrm>
            <a:off x="4657725" y="-252412"/>
            <a:ext cx="4133850" cy="3095625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/>
          <p:nvPr>
            <p:ph idx="4" type="pic"/>
          </p:nvPr>
        </p:nvSpPr>
        <p:spPr>
          <a:xfrm>
            <a:off x="-309562" y="-790575"/>
            <a:ext cx="5176838" cy="6916204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895350" y="3000375"/>
            <a:ext cx="735806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Gill Sans"/>
              <a:buNone/>
              <a:defRPr sz="1400"/>
            </a:lvl1pPr>
            <a:lvl2pPr indent="-2667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2pPr>
            <a:lvl3pPr indent="-2667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3pPr>
            <a:lvl4pPr indent="-2667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4pPr>
            <a:lvl5pPr indent="-2667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5pPr>
            <a:lvl6pPr indent="-2667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6pPr>
            <a:lvl7pPr indent="-2667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7pPr>
            <a:lvl8pPr indent="-2667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8pPr>
            <a:lvl9pPr indent="-2667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890588" y="2209800"/>
            <a:ext cx="7358063" cy="319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700"/>
              <a:buNone/>
              <a:defRPr/>
            </a:lvl1pPr>
            <a:lvl2pPr indent="-2667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2pPr>
            <a:lvl3pPr indent="-2667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3pPr>
            <a:lvl4pPr indent="-2667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4pPr>
            <a:lvl5pPr indent="-2667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5pPr>
            <a:lvl6pPr indent="-2667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6pPr>
            <a:lvl7pPr indent="-2667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7pPr>
            <a:lvl8pPr indent="-2667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8pPr>
            <a:lvl9pPr indent="-2667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6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2413" y="133350"/>
            <a:ext cx="8643937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  <a:defRPr b="0" i="0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  <a:defRPr b="0" i="0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  <a:defRPr b="0" i="0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  <a:defRPr b="0" i="0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  <a:defRPr b="0" i="0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  <a:defRPr b="0" i="0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  <a:defRPr b="0" i="0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  <a:defRPr b="0" i="0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  <a:defRPr b="0" i="0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2413" y="1438275"/>
            <a:ext cx="8643937" cy="3324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Char char="•"/>
              <a:defRPr b="0" i="0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Char char="•"/>
              <a:defRPr b="0" i="0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Char char="•"/>
              <a:defRPr b="0" i="0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Char char="•"/>
              <a:defRPr b="0" i="0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Char char="•"/>
              <a:defRPr b="0" i="0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Char char="•"/>
              <a:defRPr b="0" i="0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Char char="•"/>
              <a:defRPr b="0" i="0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Char char="•"/>
              <a:defRPr b="0" i="0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Char char="•"/>
              <a:defRPr b="0" i="0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91037" y="4905375"/>
            <a:ext cx="1571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Gill Sans"/>
              <a:buNone/>
              <a:defRPr b="0" i="0" sz="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questionpress.com/asho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hyperlink" Target="https://repl.it/@ashokbasawapatna/StudentClassExample" TargetMode="External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hyperlink" Target="https://repl.it/@ashokbasawapatna/StudentClassExample" TargetMode="External"/><Relationship Id="rId5" Type="http://schemas.openxmlformats.org/officeDocument/2006/relationships/hyperlink" Target="https://repl.it/@ashokbasawapatna/StudentClassExample" TargetMode="External"/><Relationship Id="rId6" Type="http://schemas.openxmlformats.org/officeDocument/2006/relationships/hyperlink" Target="https://repl.it/@ashokbasawapatna/StudentClassExample" TargetMode="External"/><Relationship Id="rId7" Type="http://schemas.openxmlformats.org/officeDocument/2006/relationships/hyperlink" Target="https://repl.it/@ashokbasawapatna/StudentClassExample" TargetMode="External"/><Relationship Id="rId8" Type="http://schemas.openxmlformats.org/officeDocument/2006/relationships/hyperlink" Target="https://repl.it/@ashokbasawapatna/StudentClassExampl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hyperlink" Target="https://repl.it/@ashokbasawapatna/StudentClassExampl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repl.it/@ashokbasawapatna/Object-Types-Vs-Primitives" TargetMode="External"/><Relationship Id="rId4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png"/><Relationship Id="rId4" Type="http://schemas.openxmlformats.org/officeDocument/2006/relationships/hyperlink" Target="https://repl.it/@ashokbasawapatna/CompositionExample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7.png"/><Relationship Id="rId4" Type="http://schemas.openxmlformats.org/officeDocument/2006/relationships/hyperlink" Target="https://repl.it/@ashokbasawapatna/CompositionExample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6.png"/><Relationship Id="rId4" Type="http://schemas.openxmlformats.org/officeDocument/2006/relationships/hyperlink" Target="https://repl.it/@ashokbasawapatna/CompositionExample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6.png"/><Relationship Id="rId4" Type="http://schemas.openxmlformats.org/officeDocument/2006/relationships/hyperlink" Target="https://repl.it/@ashokbasawapatna/CompositionExample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5.png"/><Relationship Id="rId4" Type="http://schemas.openxmlformats.org/officeDocument/2006/relationships/hyperlink" Target="https://repl.it/@ashokbasawapatna/CompositionExample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9.png"/><Relationship Id="rId4" Type="http://schemas.openxmlformats.org/officeDocument/2006/relationships/hyperlink" Target="https://repl.it/@ashokbasawapatna/CompositionExample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0.png"/><Relationship Id="rId4" Type="http://schemas.openxmlformats.org/officeDocument/2006/relationships/hyperlink" Target="https://repl.it/@ashokbasawapatna/CompositionExample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4.png"/><Relationship Id="rId4" Type="http://schemas.openxmlformats.org/officeDocument/2006/relationships/hyperlink" Target="https://repl.it/@ashokbasawapatna/CompositionExample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6"/>
          <p:cNvGrpSpPr/>
          <p:nvPr/>
        </p:nvGrpSpPr>
        <p:grpSpPr>
          <a:xfrm>
            <a:off x="46155" y="-23245"/>
            <a:ext cx="759375" cy="356686"/>
            <a:chOff x="0" y="0"/>
            <a:chExt cx="2024998" cy="951161"/>
          </a:xfrm>
        </p:grpSpPr>
        <p:pic>
          <p:nvPicPr>
            <p:cNvPr id="105" name="Google Shape;105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51161" cy="951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26"/>
            <p:cNvSpPr txBox="1"/>
            <p:nvPr/>
          </p:nvSpPr>
          <p:spPr>
            <a:xfrm>
              <a:off x="980041" y="272380"/>
              <a:ext cx="1044957" cy="40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61001"/>
                </a:buClr>
                <a:buSzPts val="800"/>
                <a:buFont typeface="Bodoni"/>
                <a:buNone/>
              </a:pPr>
              <a:r>
                <a:rPr b="0" i="0" lang="en" sz="800" u="none" cap="none" strike="noStrike">
                  <a:solidFill>
                    <a:srgbClr val="861001"/>
                  </a:solidFill>
                  <a:latin typeface="Bodoni"/>
                  <a:ea typeface="Bodoni"/>
                  <a:cs typeface="Bodoni"/>
                  <a:sym typeface="Bodoni"/>
                </a:rPr>
                <a:t>Lecture 3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6"/>
          <p:cNvSpPr txBox="1"/>
          <p:nvPr/>
        </p:nvSpPr>
        <p:spPr>
          <a:xfrm>
            <a:off x="252413" y="103258"/>
            <a:ext cx="8643937" cy="570446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Font typeface="Gill Sans"/>
              <a:buNone/>
            </a:pPr>
            <a:r>
              <a:rPr b="0" i="0" lang="en" sz="37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CS 3810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7493" y="665003"/>
            <a:ext cx="3700463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05755" y="3947700"/>
            <a:ext cx="8643938" cy="570446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Font typeface="Gill Sans"/>
              <a:buNone/>
            </a:pPr>
            <a:r>
              <a:rPr b="0" i="0" lang="en" sz="37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LECTURE 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3188053" y="4475401"/>
            <a:ext cx="2479342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How to attack a problem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Reference Types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idx="4294967295" type="ctrTitle"/>
          </p:nvPr>
        </p:nvSpPr>
        <p:spPr>
          <a:xfrm>
            <a:off x="1185149" y="-166575"/>
            <a:ext cx="77088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100"/>
              <a:buFont typeface="Gill Sans"/>
              <a:buNone/>
            </a:pPr>
            <a:r>
              <a:rPr b="0" i="0" lang="en" sz="31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LAST TIME WE REVIEWED CLASSES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" name="Google Shape;116;p27"/>
          <p:cNvSpPr txBox="1"/>
          <p:nvPr>
            <p:ph idx="4294967295" type="subTitle"/>
          </p:nvPr>
        </p:nvSpPr>
        <p:spPr>
          <a:xfrm>
            <a:off x="3198249" y="1301156"/>
            <a:ext cx="2747501" cy="33785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None/>
            </a:pPr>
            <a:r>
              <a:rPr b="0" i="0" lang="en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we made a student class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7" name="Google Shape;1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46" y="2166539"/>
            <a:ext cx="8092925" cy="128096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7"/>
          <p:cNvSpPr txBox="1"/>
          <p:nvPr/>
        </p:nvSpPr>
        <p:spPr>
          <a:xfrm>
            <a:off x="1707568" y="1778794"/>
            <a:ext cx="6143305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Abstraction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: We chose to </a:t>
            </a:r>
            <a:r>
              <a:rPr b="0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represent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a student as 4 pieces of data.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7"/>
          <p:cNvSpPr txBox="1"/>
          <p:nvPr/>
        </p:nvSpPr>
        <p:spPr>
          <a:xfrm>
            <a:off x="3018511" y="3525688"/>
            <a:ext cx="3106978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These were our </a:t>
            </a:r>
            <a:r>
              <a:rPr b="0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private variables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964500" y="4144550"/>
            <a:ext cx="72150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Private means they can not be accessed directly from outside the Class code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idx="4294967295" type="ctrTitle"/>
          </p:nvPr>
        </p:nvSpPr>
        <p:spPr>
          <a:xfrm>
            <a:off x="250031" y="743292"/>
            <a:ext cx="8643937" cy="472488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000"/>
              <a:buFont typeface="Gill Sans"/>
              <a:buNone/>
            </a:pPr>
            <a:r>
              <a:rPr b="0" i="0" lang="en" sz="3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QUESTION HOW DO WE INITIALIZE A STUDENT?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6" name="Google Shape;126;p28"/>
          <p:cNvSpPr txBox="1"/>
          <p:nvPr/>
        </p:nvSpPr>
        <p:spPr>
          <a:xfrm>
            <a:off x="397597" y="201618"/>
            <a:ext cx="8792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300"/>
              <a:buFont typeface="Gill Sans"/>
              <a:buNone/>
            </a:pPr>
            <a:r>
              <a:rPr b="0" i="0" lang="en" sz="23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Private means they can not be accessed directly from outside the Class code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8"/>
          <p:cNvSpPr txBox="1"/>
          <p:nvPr/>
        </p:nvSpPr>
        <p:spPr>
          <a:xfrm>
            <a:off x="186722" y="3473141"/>
            <a:ext cx="4640954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The object </a:t>
            </a:r>
            <a:r>
              <a:rPr b="0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ashTrash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has 4 private variables inside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28"/>
          <p:cNvCxnSpPr/>
          <p:nvPr/>
        </p:nvCxnSpPr>
        <p:spPr>
          <a:xfrm>
            <a:off x="4717775" y="3831268"/>
            <a:ext cx="913524" cy="463900"/>
          </a:xfrm>
          <a:prstGeom prst="straightConnector1">
            <a:avLst/>
          </a:prstGeom>
          <a:noFill/>
          <a:ln cap="flat" cmpd="sng" w="25400">
            <a:solidFill>
              <a:srgbClr val="5A5F5E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29" name="Google Shape;129;p28"/>
          <p:cNvCxnSpPr/>
          <p:nvPr/>
        </p:nvCxnSpPr>
        <p:spPr>
          <a:xfrm flipH="1">
            <a:off x="4574274" y="2679713"/>
            <a:ext cx="979950" cy="752896"/>
          </a:xfrm>
          <a:prstGeom prst="straightConnector1">
            <a:avLst/>
          </a:prstGeom>
          <a:noFill/>
          <a:ln cap="flat" cmpd="sng" w="25400">
            <a:solidFill>
              <a:srgbClr val="5A5F5E"/>
            </a:solidFill>
            <a:prstDash val="solid"/>
            <a:miter lim="400000"/>
            <a:headEnd len="sm" w="sm" type="none"/>
            <a:tailEnd len="sm" w="sm" type="none"/>
          </a:ln>
        </p:spPr>
      </p:cxnSp>
      <p:grpSp>
        <p:nvGrpSpPr>
          <p:cNvPr id="130" name="Google Shape;130;p28"/>
          <p:cNvGrpSpPr/>
          <p:nvPr/>
        </p:nvGrpSpPr>
        <p:grpSpPr>
          <a:xfrm>
            <a:off x="5612170" y="2632611"/>
            <a:ext cx="3010681" cy="1603243"/>
            <a:chOff x="0" y="0"/>
            <a:chExt cx="8028481" cy="4275314"/>
          </a:xfrm>
        </p:grpSpPr>
        <p:sp>
          <p:nvSpPr>
            <p:cNvPr id="131" name="Google Shape;131;p28"/>
            <p:cNvSpPr/>
            <p:nvPr/>
          </p:nvSpPr>
          <p:spPr>
            <a:xfrm>
              <a:off x="0" y="0"/>
              <a:ext cx="8028481" cy="4275314"/>
            </a:xfrm>
            <a:prstGeom prst="rect">
              <a:avLst/>
            </a:prstGeom>
            <a:solidFill>
              <a:srgbClr val="9ACCD4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Gill Sans"/>
                <a:buNone/>
              </a:pPr>
              <a:r>
                <a:t/>
              </a:r>
              <a:endParaRPr b="0" i="0" sz="19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2" name="Google Shape;132;p28"/>
            <p:cNvSpPr txBox="1"/>
            <p:nvPr/>
          </p:nvSpPr>
          <p:spPr>
            <a:xfrm>
              <a:off x="565880" y="336315"/>
              <a:ext cx="7020857" cy="2997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900"/>
                <a:buFont typeface="Gill Sans"/>
                <a:buNone/>
              </a:pPr>
              <a:r>
                <a:rPr b="0" i="0" lang="en" sz="1900" u="none" cap="none" strike="noStrike">
                  <a:solidFill>
                    <a:srgbClr val="535353"/>
                  </a:solidFill>
                  <a:latin typeface="Gill Sans"/>
                  <a:ea typeface="Gill Sans"/>
                  <a:cs typeface="Gill Sans"/>
                  <a:sym typeface="Gill Sans"/>
                </a:rPr>
                <a:t>name=??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900"/>
                <a:buFont typeface="Gill Sans"/>
                <a:buNone/>
              </a:pPr>
              <a:r>
                <a:rPr b="0" i="0" lang="en" sz="1900" u="none" cap="none" strike="noStrike">
                  <a:solidFill>
                    <a:srgbClr val="535353"/>
                  </a:solidFill>
                  <a:latin typeface="Gill Sans"/>
                  <a:ea typeface="Gill Sans"/>
                  <a:cs typeface="Gill Sans"/>
                  <a:sym typeface="Gill Sans"/>
                </a:rPr>
                <a:t>sevenHundredNumber= ??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900"/>
                <a:buFont typeface="Gill Sans"/>
                <a:buNone/>
              </a:pPr>
              <a:r>
                <a:rPr b="0" i="0" lang="en" sz="1900" u="none" cap="none" strike="noStrike">
                  <a:solidFill>
                    <a:srgbClr val="535353"/>
                  </a:solidFill>
                  <a:latin typeface="Gill Sans"/>
                  <a:ea typeface="Gill Sans"/>
                  <a:cs typeface="Gill Sans"/>
                  <a:sym typeface="Gill Sans"/>
                </a:rPr>
                <a:t>graduationYear=??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5353"/>
                </a:buClr>
                <a:buSzPts val="1900"/>
                <a:buFont typeface="Gill Sans"/>
                <a:buNone/>
              </a:pPr>
              <a:r>
                <a:rPr b="0" i="0" lang="en" sz="1900" u="none" cap="none" strike="noStrike">
                  <a:solidFill>
                    <a:srgbClr val="535353"/>
                  </a:solidFill>
                  <a:latin typeface="Gill Sans"/>
                  <a:ea typeface="Gill Sans"/>
                  <a:cs typeface="Gill Sans"/>
                  <a:sym typeface="Gill Sans"/>
                </a:rPr>
                <a:t>credits=??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28"/>
          <p:cNvSpPr txBox="1"/>
          <p:nvPr/>
        </p:nvSpPr>
        <p:spPr>
          <a:xfrm>
            <a:off x="563336" y="1393533"/>
            <a:ext cx="8283755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How do we </a:t>
            </a:r>
            <a:r>
              <a:rPr b="0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initialize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all these </a:t>
            </a:r>
            <a:r>
              <a:rPr b="0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private variables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from inside student </a:t>
            </a:r>
            <a:r>
              <a:rPr b="0" i="1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from outside the class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idx="4294967295" type="ctrTitle"/>
          </p:nvPr>
        </p:nvSpPr>
        <p:spPr>
          <a:xfrm>
            <a:off x="250031" y="357633"/>
            <a:ext cx="86439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100"/>
              <a:buFont typeface="Gill Sans"/>
              <a:buNone/>
            </a:pPr>
            <a:r>
              <a:rPr b="0" i="0" lang="en" sz="31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ANSWER: BY </a:t>
            </a:r>
            <a:r>
              <a:rPr b="0" i="0" lang="en" sz="31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CREATING A PUBLIC CONSTRUCTOR</a:t>
            </a:r>
            <a:r>
              <a:rPr b="0" i="0" lang="en" sz="31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THAT </a:t>
            </a:r>
            <a:r>
              <a:rPr b="0" i="0" lang="en" sz="31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INITIALIZES </a:t>
            </a:r>
            <a:r>
              <a:rPr b="0" i="0" lang="en" sz="3100" u="none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ALL THE</a:t>
            </a:r>
            <a:r>
              <a:rPr b="0" i="0" lang="en" sz="31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 PRIVATE VARIABLES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39" name="Google Shape;139;p29"/>
          <p:cNvPicPr preferRelativeResize="0"/>
          <p:nvPr/>
        </p:nvPicPr>
        <p:blipFill rotWithShape="1">
          <a:blip r:embed="rId3">
            <a:alphaModFix/>
          </a:blip>
          <a:srcRect b="6002" l="0" r="0" t="0"/>
          <a:stretch/>
        </p:blipFill>
        <p:spPr>
          <a:xfrm>
            <a:off x="1208773" y="1492236"/>
            <a:ext cx="4561603" cy="770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3563" y="2509225"/>
            <a:ext cx="6649512" cy="22374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29"/>
          <p:cNvCxnSpPr/>
          <p:nvPr/>
        </p:nvCxnSpPr>
        <p:spPr>
          <a:xfrm flipH="1">
            <a:off x="3404622" y="2266521"/>
            <a:ext cx="161369" cy="434148"/>
          </a:xfrm>
          <a:prstGeom prst="straightConnector1">
            <a:avLst/>
          </a:prstGeom>
          <a:noFill/>
          <a:ln cap="flat" cmpd="sng" w="50800">
            <a:solidFill>
              <a:srgbClr val="0433FF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2" name="Google Shape;142;p29"/>
          <p:cNvCxnSpPr/>
          <p:nvPr/>
        </p:nvCxnSpPr>
        <p:spPr>
          <a:xfrm>
            <a:off x="3974655" y="2242957"/>
            <a:ext cx="494571" cy="0"/>
          </a:xfrm>
          <a:prstGeom prst="straightConnector1">
            <a:avLst/>
          </a:prstGeom>
          <a:noFill/>
          <a:ln cap="flat" cmpd="sng" w="50800">
            <a:solidFill>
              <a:srgbClr val="0433FF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43" name="Google Shape;143;p29"/>
          <p:cNvCxnSpPr/>
          <p:nvPr/>
        </p:nvCxnSpPr>
        <p:spPr>
          <a:xfrm>
            <a:off x="4232321" y="2266521"/>
            <a:ext cx="158278" cy="433149"/>
          </a:xfrm>
          <a:prstGeom prst="straightConnector1">
            <a:avLst/>
          </a:prstGeom>
          <a:noFill/>
          <a:ln cap="flat" cmpd="sng" w="50800">
            <a:solidFill>
              <a:srgbClr val="0433FF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4" name="Google Shape;144;p29"/>
          <p:cNvCxnSpPr/>
          <p:nvPr/>
        </p:nvCxnSpPr>
        <p:spPr>
          <a:xfrm>
            <a:off x="4640987" y="2242957"/>
            <a:ext cx="236885" cy="0"/>
          </a:xfrm>
          <a:prstGeom prst="straightConnector1">
            <a:avLst/>
          </a:prstGeom>
          <a:noFill/>
          <a:ln cap="flat" cmpd="sng" w="50800">
            <a:solidFill>
              <a:srgbClr val="0433FF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45" name="Google Shape;145;p29"/>
          <p:cNvCxnSpPr/>
          <p:nvPr/>
        </p:nvCxnSpPr>
        <p:spPr>
          <a:xfrm>
            <a:off x="4745985" y="2266996"/>
            <a:ext cx="1359721" cy="430925"/>
          </a:xfrm>
          <a:prstGeom prst="straightConnector1">
            <a:avLst/>
          </a:prstGeom>
          <a:noFill/>
          <a:ln cap="flat" cmpd="sng" w="50800">
            <a:solidFill>
              <a:srgbClr val="0433FF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6" name="Google Shape;146;p29"/>
          <p:cNvCxnSpPr/>
          <p:nvPr/>
        </p:nvCxnSpPr>
        <p:spPr>
          <a:xfrm>
            <a:off x="4998439" y="2242957"/>
            <a:ext cx="236885" cy="0"/>
          </a:xfrm>
          <a:prstGeom prst="straightConnector1">
            <a:avLst/>
          </a:prstGeom>
          <a:noFill/>
          <a:ln cap="flat" cmpd="sng" w="50800">
            <a:solidFill>
              <a:srgbClr val="0433FF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47" name="Google Shape;147;p29"/>
          <p:cNvCxnSpPr/>
          <p:nvPr/>
        </p:nvCxnSpPr>
        <p:spPr>
          <a:xfrm>
            <a:off x="5077693" y="2264031"/>
            <a:ext cx="2595000" cy="418200"/>
          </a:xfrm>
          <a:prstGeom prst="straightConnector1">
            <a:avLst/>
          </a:prstGeom>
          <a:noFill/>
          <a:ln cap="flat" cmpd="sng" w="50800">
            <a:solidFill>
              <a:srgbClr val="0433FF"/>
            </a:solidFill>
            <a:prstDash val="solid"/>
            <a:miter lim="4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idx="4294967295" type="ctrTitle"/>
          </p:nvPr>
        </p:nvSpPr>
        <p:spPr>
          <a:xfrm>
            <a:off x="250031" y="340638"/>
            <a:ext cx="86439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500"/>
              <a:buFont typeface="Gill Sans"/>
              <a:buNone/>
            </a:pPr>
            <a:r>
              <a:rPr b="0" i="0" lang="en" sz="25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QUESTION HOW DO WE </a:t>
            </a:r>
            <a:r>
              <a:rPr b="0" i="0" lang="en" sz="2500" u="none" cap="none" strike="noStrike">
                <a:solidFill>
                  <a:srgbClr val="EC393A"/>
                </a:solidFill>
                <a:latin typeface="Gill Sans"/>
                <a:ea typeface="Gill Sans"/>
                <a:cs typeface="Gill Sans"/>
                <a:sym typeface="Gill Sans"/>
              </a:rPr>
              <a:t>GET</a:t>
            </a:r>
            <a:r>
              <a:rPr b="0" i="0" lang="en" sz="25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THE </a:t>
            </a:r>
            <a:r>
              <a:rPr b="0" i="0" lang="en" sz="2500" u="none" cap="none" strike="noStrike">
                <a:solidFill>
                  <a:srgbClr val="EC393A"/>
                </a:solidFill>
                <a:latin typeface="Gill Sans"/>
                <a:ea typeface="Gill Sans"/>
                <a:cs typeface="Gill Sans"/>
                <a:sym typeface="Gill Sans"/>
              </a:rPr>
              <a:t>PRIVATE VARIABLE VALUES</a:t>
            </a:r>
            <a:r>
              <a:rPr b="0" i="0" lang="en" sz="25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?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250031" y="824906"/>
            <a:ext cx="86439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000"/>
              <a:buFont typeface="Gill Sans"/>
              <a:buNone/>
            </a:pPr>
            <a:r>
              <a:rPr b="0" i="0" lang="en" sz="3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CREATE A </a:t>
            </a:r>
            <a:r>
              <a:rPr b="0" i="0" lang="en" sz="3000" u="none" cap="none" strike="noStrike">
                <a:solidFill>
                  <a:srgbClr val="EC393A"/>
                </a:solidFill>
                <a:latin typeface="Gill Sans"/>
                <a:ea typeface="Gill Sans"/>
                <a:cs typeface="Gill Sans"/>
                <a:sym typeface="Gill Sans"/>
              </a:rPr>
              <a:t>PUBLIC GETTER METHOD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30"/>
          <p:cNvPicPr preferRelativeResize="0"/>
          <p:nvPr/>
        </p:nvPicPr>
        <p:blipFill rotWithShape="1">
          <a:blip r:embed="rId3">
            <a:alphaModFix/>
          </a:blip>
          <a:srcRect b="56713" l="0" r="71141" t="8984"/>
          <a:stretch/>
        </p:blipFill>
        <p:spPr>
          <a:xfrm>
            <a:off x="2873722" y="1531396"/>
            <a:ext cx="3396622" cy="104683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/>
        </p:nvSpPr>
        <p:spPr>
          <a:xfrm>
            <a:off x="2529122" y="2964656"/>
            <a:ext cx="4085756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It returns the a value of the private variable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1936600" y="3448924"/>
            <a:ext cx="5270800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Typically we make one of these for each private variable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idx="4294967295" type="ctrTitle"/>
          </p:nvPr>
        </p:nvSpPr>
        <p:spPr>
          <a:xfrm>
            <a:off x="127731" y="-497662"/>
            <a:ext cx="86439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Gill Sans"/>
              <a:buNone/>
            </a:pPr>
            <a:r>
              <a:rPr b="0" i="0" lang="en" sz="1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HOW TO </a:t>
            </a:r>
            <a:r>
              <a:rPr b="0" i="0" lang="en" sz="18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ATTACK A HOMEWORK  </a:t>
            </a:r>
            <a:r>
              <a:rPr b="0" i="0" lang="en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(OR ANY CODING PROBLEM)</a:t>
            </a:r>
            <a:endParaRPr b="0" i="0" sz="18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31"/>
          <p:cNvSpPr txBox="1"/>
          <p:nvPr/>
        </p:nvSpPr>
        <p:spPr>
          <a:xfrm>
            <a:off x="983943" y="713787"/>
            <a:ext cx="74052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37FF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9437FF"/>
                </a:solidFill>
                <a:latin typeface="Gill Sans"/>
                <a:ea typeface="Gill Sans"/>
                <a:cs typeface="Gill Sans"/>
                <a:sym typeface="Gill Sans"/>
              </a:rPr>
              <a:t>Implement it Piece by Piece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0FF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FF40FF"/>
                </a:solidFill>
                <a:latin typeface="Gill Sans"/>
                <a:ea typeface="Gill Sans"/>
                <a:cs typeface="Gill Sans"/>
                <a:sym typeface="Gill Sans"/>
              </a:rPr>
              <a:t>Test each piece out and make sure it works before going to the next piece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11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0FF"/>
              </a:buClr>
              <a:buSzPts val="1900"/>
              <a:buFont typeface="Gill Sans"/>
              <a:buAutoNum type="alphaUcPeriod"/>
            </a:pPr>
            <a:r>
              <a:rPr b="0" i="0" lang="en" sz="1900" u="none" cap="none" strike="noStrike">
                <a:solidFill>
                  <a:srgbClr val="FF40FF"/>
                </a:solidFill>
                <a:latin typeface="Gill Sans"/>
                <a:ea typeface="Gill Sans"/>
                <a:cs typeface="Gill Sans"/>
                <a:sym typeface="Gill Sans"/>
              </a:rPr>
              <a:t>We </a:t>
            </a:r>
            <a:r>
              <a:rPr b="0" i="0" lang="en" sz="1900" u="sng" cap="none" strike="noStrike">
                <a:solidFill>
                  <a:srgbClr val="FF40FF"/>
                </a:solidFill>
                <a:latin typeface="Gill Sans"/>
                <a:ea typeface="Gill Sans"/>
                <a:cs typeface="Gill Sans"/>
                <a:sym typeface="Gill Sans"/>
              </a:rPr>
              <a:t>write test code in the CLIENT</a:t>
            </a:r>
            <a:r>
              <a:rPr b="0" i="0" lang="en" sz="1900" u="none" cap="none" strike="noStrike">
                <a:solidFill>
                  <a:srgbClr val="FF40FF"/>
                </a:solidFill>
                <a:latin typeface="Gill Sans"/>
                <a:ea typeface="Gill Sans"/>
                <a:cs typeface="Gill Sans"/>
                <a:sym typeface="Gill Sans"/>
              </a:rPr>
              <a:t>, i.e. main.java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1"/>
          <p:cNvSpPr txBox="1"/>
          <p:nvPr/>
        </p:nvSpPr>
        <p:spPr>
          <a:xfrm>
            <a:off x="971625" y="1712212"/>
            <a:ext cx="7533300" cy="1764300"/>
          </a:xfrm>
          <a:prstGeom prst="rect">
            <a:avLst/>
          </a:prstGeom>
          <a:gradFill>
            <a:gsLst>
              <a:gs pos="0">
                <a:srgbClr val="FBF5B7"/>
              </a:gs>
              <a:gs pos="100000">
                <a:srgbClr val="A8BDE0"/>
              </a:gs>
            </a:gsLst>
            <a:lin ang="5400000" scaled="0"/>
          </a:gra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610C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8F610C"/>
                </a:solidFill>
                <a:latin typeface="Gill Sans"/>
                <a:ea typeface="Gill Sans"/>
                <a:cs typeface="Gill Sans"/>
                <a:sym typeface="Gill Sans"/>
              </a:rPr>
              <a:t>How do we do this?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610C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8F610C"/>
                </a:solidFill>
                <a:latin typeface="Gill Sans"/>
                <a:ea typeface="Gill Sans"/>
                <a:cs typeface="Gill Sans"/>
                <a:sym typeface="Gill Sans"/>
              </a:rPr>
              <a:t>Simple!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610C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8F610C"/>
                </a:solidFill>
                <a:latin typeface="Gill Sans"/>
                <a:ea typeface="Gill Sans"/>
                <a:cs typeface="Gill Sans"/>
                <a:sym typeface="Gill Sans"/>
              </a:rPr>
              <a:t>identifying the smallest amount of code you need to test if something works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610C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8F610C"/>
                </a:solidFill>
                <a:latin typeface="Gill Sans"/>
                <a:ea typeface="Gill Sans"/>
                <a:cs typeface="Gill Sans"/>
                <a:sym typeface="Gill Sans"/>
              </a:rPr>
              <a:t>Implement those things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610C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8F610C"/>
                </a:solidFill>
                <a:latin typeface="Gill Sans"/>
                <a:ea typeface="Gill Sans"/>
                <a:cs typeface="Gill Sans"/>
                <a:sym typeface="Gill Sans"/>
              </a:rPr>
              <a:t>Write test code in main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610C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8F610C"/>
                </a:solidFill>
                <a:latin typeface="Gill Sans"/>
                <a:ea typeface="Gill Sans"/>
                <a:cs typeface="Gill Sans"/>
                <a:sym typeface="Gill Sans"/>
              </a:rPr>
              <a:t>Go back Step 1 and implement the next thing! Repeat until finished!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1"/>
          <p:cNvSpPr txBox="1"/>
          <p:nvPr/>
        </p:nvSpPr>
        <p:spPr>
          <a:xfrm>
            <a:off x="1548774" y="4833750"/>
            <a:ext cx="67083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393A"/>
              </a:buClr>
              <a:buSzPts val="1900"/>
              <a:buFont typeface="Gill Sans"/>
              <a:buNone/>
            </a:pPr>
            <a:r>
              <a:rPr b="0" i="0" lang="en" sz="1400" u="none" cap="none" strike="noStrike">
                <a:solidFill>
                  <a:srgbClr val="EC393A"/>
                </a:solidFill>
                <a:latin typeface="Gill Sans"/>
                <a:ea typeface="Gill Sans"/>
                <a:cs typeface="Gill Sans"/>
                <a:sym typeface="Gill Sans"/>
              </a:rPr>
              <a:t>DO NOT IMPLEMENT EVERYTHING AT ONCE!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1"/>
          <p:cNvSpPr txBox="1"/>
          <p:nvPr/>
        </p:nvSpPr>
        <p:spPr>
          <a:xfrm>
            <a:off x="990553" y="3644075"/>
            <a:ext cx="7162893" cy="1123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393A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EC393A"/>
                </a:solidFill>
                <a:latin typeface="Gill Sans"/>
                <a:ea typeface="Gill Sans"/>
                <a:cs typeface="Gill Sans"/>
                <a:sym typeface="Gill Sans"/>
              </a:rPr>
              <a:t>The advantage of this is that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393A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EC393A"/>
                </a:solidFill>
                <a:latin typeface="Gill Sans"/>
                <a:ea typeface="Gill Sans"/>
                <a:cs typeface="Gill Sans"/>
                <a:sym typeface="Gill Sans"/>
              </a:rPr>
              <a:t>1)You are confident that previous step works before going to the next step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393A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EC393A"/>
                </a:solidFill>
                <a:latin typeface="Gill Sans"/>
                <a:ea typeface="Gill Sans"/>
                <a:cs typeface="Gill Sans"/>
                <a:sym typeface="Gill Sans"/>
              </a:rPr>
              <a:t>2) You know exactly what piece of code does not work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393A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EC393A"/>
                </a:solidFill>
                <a:latin typeface="Gill Sans"/>
                <a:ea typeface="Gill Sans"/>
                <a:cs typeface="Gill Sans"/>
                <a:sym typeface="Gill Sans"/>
              </a:rPr>
              <a:t>3) Debugging becomes much easier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1"/>
          <p:cNvSpPr txBox="1"/>
          <p:nvPr/>
        </p:nvSpPr>
        <p:spPr>
          <a:xfrm>
            <a:off x="636026" y="301400"/>
            <a:ext cx="8080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Divide and conquer— split problem up into little pieces, implement those pieces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/>
        </p:nvSpPr>
        <p:spPr>
          <a:xfrm>
            <a:off x="139617" y="1055082"/>
            <a:ext cx="8864766" cy="1123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TPS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1): What Methods in the Class do we have to write to accomplish the code development and testing of this task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2) What code in the Client do we have to write to accomplish the testing of this task?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1697077" y="61021"/>
            <a:ext cx="5754608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TASK: Let’s say we identify our task of </a:t>
            </a:r>
            <a:r>
              <a:rPr b="0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write the Constructor</a:t>
            </a:r>
            <a:endParaRPr b="0" i="0" sz="1900" u="none" cap="none" strike="noStrike">
              <a:solidFill>
                <a:schemeClr val="accent4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We know that the </a:t>
            </a:r>
            <a:r>
              <a:rPr b="0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Constructor initializes private variables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2469184" y="4555776"/>
            <a:ext cx="4205632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Note to self— answers on next hidden slide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2"/>
          <p:cNvSpPr txBox="1"/>
          <p:nvPr/>
        </p:nvSpPr>
        <p:spPr>
          <a:xfrm>
            <a:off x="2808750" y="2691825"/>
            <a:ext cx="35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www.questionpress.com/ashok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idx="4294967295" type="ctrTitle"/>
          </p:nvPr>
        </p:nvSpPr>
        <p:spPr>
          <a:xfrm>
            <a:off x="250031" y="305827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900"/>
              <a:buFont typeface="Gill Sans"/>
              <a:buNone/>
            </a:pPr>
            <a:r>
              <a:rPr b="0" i="0" lang="en" sz="24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TPS1 ANSW) CONSTRUCTOR, GETTERS IN THE CLASS</a:t>
            </a:r>
            <a:endParaRPr b="0" i="0" sz="24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900"/>
              <a:buFont typeface="Gill Sans"/>
              <a:buNone/>
            </a:pPr>
            <a:r>
              <a:rPr b="0" i="0" lang="en" sz="24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TPS 2 ANSW) CODE THAT CREATES THE OBJECT AND PRINTS OUT THE VARIABLES USING THE GETTERS IN THE CLIENT</a:t>
            </a:r>
            <a:endParaRPr b="0" i="0" sz="24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33"/>
          <p:cNvSpPr txBox="1"/>
          <p:nvPr>
            <p:ph idx="4294967295" type="subTitle"/>
          </p:nvPr>
        </p:nvSpPr>
        <p:spPr>
          <a:xfrm>
            <a:off x="250031" y="2107946"/>
            <a:ext cx="8643937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None/>
            </a:pPr>
            <a:r>
              <a:rPr b="0" i="0" lang="en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Next Task: we write the toString method and test that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33"/>
          <p:cNvSpPr txBox="1"/>
          <p:nvPr/>
        </p:nvSpPr>
        <p:spPr>
          <a:xfrm>
            <a:off x="68575" y="2599314"/>
            <a:ext cx="9006850" cy="1395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At this point we would identify the next task…Maybe writing the Setters for one of the private variables. Then test that. Then write another setter, then test that. etc. </a:t>
            </a:r>
            <a:r>
              <a:rPr b="0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keep in mind what i</a:t>
            </a:r>
            <a:r>
              <a:rPr b="0" i="0" lang="en" sz="1900" u="none" cap="none" strike="noStrike">
                <a:solidFill>
                  <a:srgbClr val="EC393A"/>
                </a:solidFill>
                <a:latin typeface="Gill Sans"/>
                <a:ea typeface="Gill Sans"/>
                <a:cs typeface="Gill Sans"/>
                <a:sym typeface="Gill Sans"/>
              </a:rPr>
              <a:t>nvalid values</a:t>
            </a:r>
            <a:r>
              <a:rPr b="0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 are when writing the setters </a:t>
            </a:r>
            <a:r>
              <a:rPr b="0" i="0" lang="en" sz="1900" u="none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and test setting the private variables to these values</a:t>
            </a:r>
            <a:endParaRPr b="0" i="0" sz="1900" u="none" cap="none" strike="noStrike">
              <a:solidFill>
                <a:schemeClr val="accent4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chemeClr val="accent4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Then we might write any other function that is left and test.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-9525" y="4336445"/>
            <a:ext cx="91630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Gill Sans"/>
              <a:buNone/>
            </a:pPr>
            <a:r>
              <a:rPr b="1" i="0" lang="en" sz="24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This is how the successful students in the class will attack a problem from here on out!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idx="4294967295" type="ctrTitle"/>
          </p:nvPr>
        </p:nvSpPr>
        <p:spPr>
          <a:xfrm>
            <a:off x="250031" y="-263205"/>
            <a:ext cx="8643937" cy="1709738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</a:pP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LAST TIME WE STARTED TO MAKE OUR OWN OBJECT TYPE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8" name="Google Shape;188;p34"/>
          <p:cNvSpPr txBox="1"/>
          <p:nvPr/>
        </p:nvSpPr>
        <p:spPr>
          <a:xfrm>
            <a:off x="186645" y="1989834"/>
            <a:ext cx="8643938" cy="1709738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</a:pP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WE ENDED WITH OVERLOADING </a:t>
            </a:r>
            <a:r>
              <a:rPr b="0" i="0" lang="en" sz="38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TOSTRING</a:t>
            </a: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AND </a:t>
            </a:r>
            <a:r>
              <a:rPr b="0" i="0" lang="en" sz="38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EQUALS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idx="4294967295" type="ctrTitle"/>
          </p:nvPr>
        </p:nvSpPr>
        <p:spPr>
          <a:xfrm>
            <a:off x="163603" y="1650686"/>
            <a:ext cx="8643938" cy="565778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700"/>
              <a:buFont typeface="Gill Sans"/>
              <a:buNone/>
            </a:pPr>
            <a:r>
              <a:rPr b="0" i="0" lang="en" sz="37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MECHANICS OF OVERRIDING TOSTRING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idx="4294967295" type="ctrTitle"/>
          </p:nvPr>
        </p:nvSpPr>
        <p:spPr>
          <a:xfrm>
            <a:off x="252413" y="363978"/>
            <a:ext cx="8643937" cy="525903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400"/>
              <a:buFont typeface="Gill Sans"/>
              <a:buNone/>
            </a:pPr>
            <a:r>
              <a:rPr b="0" i="0" lang="en" sz="34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OVERRIDING TOSTRING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36"/>
          <p:cNvSpPr txBox="1"/>
          <p:nvPr/>
        </p:nvSpPr>
        <p:spPr>
          <a:xfrm>
            <a:off x="149093" y="955438"/>
            <a:ext cx="88458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What happens when we try to print out an object of a class without a toString? Java will print out something called an object hash code— it looks something like this: 6969504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6"/>
          <p:cNvSpPr txBox="1"/>
          <p:nvPr/>
        </p:nvSpPr>
        <p:spPr>
          <a:xfrm>
            <a:off x="2256404" y="1602020"/>
            <a:ext cx="4635955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Each object in a program has a unique hash code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6"/>
          <p:cNvSpPr txBox="1"/>
          <p:nvPr/>
        </p:nvSpPr>
        <p:spPr>
          <a:xfrm>
            <a:off x="187637" y="2143188"/>
            <a:ext cx="8768725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If we try to print out ashTrash and get some weird string of numbers that would be no good!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6"/>
          <p:cNvSpPr txBox="1"/>
          <p:nvPr/>
        </p:nvSpPr>
        <p:spPr>
          <a:xfrm>
            <a:off x="313563" y="2478740"/>
            <a:ext cx="8676406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To avoid this we must Override the toString method.  We will talk about overriding in a few slides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751" y="3085754"/>
            <a:ext cx="6147259" cy="82088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6"/>
          <p:cNvSpPr txBox="1"/>
          <p:nvPr/>
        </p:nvSpPr>
        <p:spPr>
          <a:xfrm>
            <a:off x="60026" y="4157616"/>
            <a:ext cx="902871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The toString method allows us, the class designers, to determine what the String representation for our object should look like. </a:t>
            </a:r>
            <a:r>
              <a:rPr b="0" i="0" lang="en" sz="1900" u="none" cap="none" strike="noStrike">
                <a:solidFill>
                  <a:srgbClr val="FF40FF"/>
                </a:solidFill>
                <a:latin typeface="Gill Sans"/>
                <a:ea typeface="Gill Sans"/>
                <a:cs typeface="Gill Sans"/>
                <a:sym typeface="Gill Sans"/>
              </a:rPr>
              <a:t>toString returns a String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representation of our object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6"/>
          <p:cNvSpPr txBox="1"/>
          <p:nvPr/>
        </p:nvSpPr>
        <p:spPr>
          <a:xfrm>
            <a:off x="3680854" y="-27339"/>
            <a:ext cx="1782292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18D"/>
              </a:buClr>
              <a:buSzPts val="1900"/>
              <a:buFont typeface="Gill Sans"/>
              <a:buNone/>
            </a:pPr>
            <a:r>
              <a:rPr b="0" i="0" lang="en" sz="19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click here for code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6"/>
          <p:cNvGrpSpPr/>
          <p:nvPr/>
        </p:nvGrpSpPr>
        <p:grpSpPr>
          <a:xfrm>
            <a:off x="46155" y="-23245"/>
            <a:ext cx="759375" cy="356686"/>
            <a:chOff x="0" y="0"/>
            <a:chExt cx="2024998" cy="951161"/>
          </a:xfrm>
        </p:grpSpPr>
        <p:pic>
          <p:nvPicPr>
            <p:cNvPr id="207" name="Google Shape;207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951161" cy="951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36"/>
            <p:cNvSpPr txBox="1"/>
            <p:nvPr/>
          </p:nvSpPr>
          <p:spPr>
            <a:xfrm>
              <a:off x="980041" y="272380"/>
              <a:ext cx="1044957" cy="40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61001"/>
                </a:buClr>
                <a:buSzPts val="800"/>
                <a:buFont typeface="Bodoni"/>
                <a:buNone/>
              </a:pPr>
              <a:r>
                <a:rPr b="0" i="0" lang="en" sz="800" u="none" cap="none" strike="noStrike">
                  <a:solidFill>
                    <a:srgbClr val="861001"/>
                  </a:solidFill>
                  <a:latin typeface="Bodoni"/>
                  <a:ea typeface="Bodoni"/>
                  <a:cs typeface="Bodoni"/>
                  <a:sym typeface="Bodoni"/>
                </a:rPr>
                <a:t>Lecture 1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36"/>
          <p:cNvSpPr txBox="1"/>
          <p:nvPr/>
        </p:nvSpPr>
        <p:spPr>
          <a:xfrm>
            <a:off x="7444727" y="26510"/>
            <a:ext cx="1837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Concept: </a:t>
            </a:r>
            <a:r>
              <a:rPr b="0" i="0" lang="en" sz="800" u="none" cap="none" strike="noStrike">
                <a:solidFill>
                  <a:srgbClr val="342E7E"/>
                </a:solidFill>
                <a:latin typeface="Cutive"/>
                <a:ea typeface="Cutive"/>
                <a:cs typeface="Cutive"/>
                <a:sym typeface="Cutive"/>
              </a:rPr>
              <a:t>Classes and Java Review</a:t>
            </a: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Purpose: How Classes work in 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6"/>
          <p:cNvSpPr txBox="1"/>
          <p:nvPr/>
        </p:nvSpPr>
        <p:spPr>
          <a:xfrm>
            <a:off x="4178508" y="3059765"/>
            <a:ext cx="642352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000"/>
              <a:buFont typeface="Gill Sans"/>
              <a:buNone/>
            </a:pPr>
            <a:r>
              <a:rPr b="0" i="0" lang="en" sz="1000" u="sng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Student.java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idx="4294967295" type="ctrTitle"/>
          </p:nvPr>
        </p:nvSpPr>
        <p:spPr>
          <a:xfrm>
            <a:off x="308658" y="546005"/>
            <a:ext cx="8643938" cy="1709738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93"/>
              </a:buClr>
              <a:buSzPts val="3800"/>
              <a:buFont typeface="Gill Sans"/>
              <a:buNone/>
            </a:pPr>
            <a:r>
              <a:rPr b="0" i="0" lang="en" sz="3800" u="none" cap="none" strike="noStrike">
                <a:solidFill>
                  <a:srgbClr val="009193"/>
                </a:solidFill>
                <a:latin typeface="Gill Sans"/>
                <a:ea typeface="Gill Sans"/>
                <a:cs typeface="Gill Sans"/>
                <a:sym typeface="Gill Sans"/>
              </a:rPr>
              <a:t>OVERRIDE</a:t>
            </a: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REFERS TO THE FACT THAT </a:t>
            </a:r>
            <a:r>
              <a:rPr b="0" i="0" lang="en" sz="3800" u="none" cap="none" strike="noStrike">
                <a:solidFill>
                  <a:srgbClr val="5E8B93"/>
                </a:solidFill>
                <a:latin typeface="Gill Sans"/>
                <a:ea typeface="Gill Sans"/>
                <a:cs typeface="Gill Sans"/>
                <a:sym typeface="Gill Sans"/>
              </a:rPr>
              <a:t>EVERY CLASS INHERITS</a:t>
            </a: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FROM THE </a:t>
            </a:r>
            <a:r>
              <a:rPr b="0" i="0" lang="en" sz="3800" u="none" cap="none" strike="noStrike">
                <a:solidFill>
                  <a:srgbClr val="009051"/>
                </a:solidFill>
                <a:latin typeface="Gill Sans"/>
                <a:ea typeface="Gill Sans"/>
                <a:cs typeface="Gill Sans"/>
                <a:sym typeface="Gill Sans"/>
              </a:rPr>
              <a:t>“GLOBAL BASE CLASS” </a:t>
            </a:r>
            <a:r>
              <a:rPr b="0" i="0" lang="en" sz="3800" u="sng" cap="none" strike="noStrike">
                <a:solidFill>
                  <a:srgbClr val="009051"/>
                </a:solidFill>
                <a:latin typeface="Gill Sans"/>
                <a:ea typeface="Gill Sans"/>
                <a:cs typeface="Gill Sans"/>
                <a:sym typeface="Gill Sans"/>
              </a:rPr>
              <a:t>OBJECT</a:t>
            </a: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IN JAVA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6" name="Google Shape;216;p37"/>
          <p:cNvSpPr txBox="1"/>
          <p:nvPr>
            <p:ph idx="4294967295" type="subTitle"/>
          </p:nvPr>
        </p:nvSpPr>
        <p:spPr>
          <a:xfrm>
            <a:off x="308658" y="2468308"/>
            <a:ext cx="8643938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Gill Sans"/>
              <a:buNone/>
            </a:pPr>
            <a:r>
              <a:rPr b="0" i="0" lang="en" sz="34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“EVERY CLASS IS AN OBJECT”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17" name="Google Shape;217;p37"/>
          <p:cNvGrpSpPr/>
          <p:nvPr/>
        </p:nvGrpSpPr>
        <p:grpSpPr>
          <a:xfrm>
            <a:off x="46155" y="-23245"/>
            <a:ext cx="759375" cy="356686"/>
            <a:chOff x="0" y="0"/>
            <a:chExt cx="2024998" cy="951161"/>
          </a:xfrm>
        </p:grpSpPr>
        <p:pic>
          <p:nvPicPr>
            <p:cNvPr id="218" name="Google Shape;218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51161" cy="951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37"/>
            <p:cNvSpPr txBox="1"/>
            <p:nvPr/>
          </p:nvSpPr>
          <p:spPr>
            <a:xfrm>
              <a:off x="980041" y="272380"/>
              <a:ext cx="1044957" cy="40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61001"/>
                </a:buClr>
                <a:buSzPts val="800"/>
                <a:buFont typeface="Bodoni"/>
                <a:buNone/>
              </a:pPr>
              <a:r>
                <a:rPr b="0" i="0" lang="en" sz="800" u="none" cap="none" strike="noStrike">
                  <a:solidFill>
                    <a:srgbClr val="861001"/>
                  </a:solidFill>
                  <a:latin typeface="Bodoni"/>
                  <a:ea typeface="Bodoni"/>
                  <a:cs typeface="Bodoni"/>
                  <a:sym typeface="Bodoni"/>
                </a:rPr>
                <a:t>Lecture 1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37"/>
          <p:cNvSpPr txBox="1"/>
          <p:nvPr/>
        </p:nvSpPr>
        <p:spPr>
          <a:xfrm>
            <a:off x="7444727" y="26510"/>
            <a:ext cx="1837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Concept: </a:t>
            </a:r>
            <a:r>
              <a:rPr b="0" i="0" lang="en" sz="800" u="none" cap="none" strike="noStrike">
                <a:solidFill>
                  <a:srgbClr val="342E7E"/>
                </a:solidFill>
                <a:latin typeface="Cutive"/>
                <a:ea typeface="Cutive"/>
                <a:cs typeface="Cutive"/>
                <a:sym typeface="Cutive"/>
              </a:rPr>
              <a:t>Classes and Java Review</a:t>
            </a: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Purpose: How Classes work in 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7"/>
          <p:cNvSpPr txBox="1"/>
          <p:nvPr/>
        </p:nvSpPr>
        <p:spPr>
          <a:xfrm>
            <a:off x="98400" y="3122588"/>
            <a:ext cx="8947200" cy="852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Object defines its own toString Method, so if you write a class without a toString method, it’ll use Object’s toString method (which just prints out a random number called the object hashcode).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7"/>
          <p:cNvSpPr txBox="1"/>
          <p:nvPr/>
        </p:nvSpPr>
        <p:spPr>
          <a:xfrm>
            <a:off x="2630802" y="4522939"/>
            <a:ext cx="38823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Gill Sans"/>
              <a:buNone/>
            </a:pPr>
            <a:r>
              <a:rPr b="1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More on this in the next lecture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idx="4294967295" type="ctrTitle"/>
          </p:nvPr>
        </p:nvSpPr>
        <p:spPr>
          <a:xfrm>
            <a:off x="250031" y="433513"/>
            <a:ext cx="8643937" cy="444736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Gill Sans"/>
              <a:buNone/>
            </a:pPr>
            <a:r>
              <a:rPr b="0" i="0" lang="en" sz="2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OVERRIDING TOSTRING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38"/>
          <p:cNvSpPr txBox="1"/>
          <p:nvPr>
            <p:ph idx="4294967295" type="subTitle"/>
          </p:nvPr>
        </p:nvSpPr>
        <p:spPr>
          <a:xfrm>
            <a:off x="30818" y="1134094"/>
            <a:ext cx="9082364" cy="141904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rPr>
              <a:t>toString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can be </a:t>
            </a:r>
            <a:r>
              <a:rPr b="0" i="0" lang="en" sz="1900" u="none" cap="none" strike="noStrike">
                <a:solidFill>
                  <a:srgbClr val="011993"/>
                </a:solidFill>
                <a:latin typeface="Gill Sans"/>
                <a:ea typeface="Gill Sans"/>
                <a:cs typeface="Gill Sans"/>
                <a:sym typeface="Gill Sans"/>
              </a:rPr>
              <a:t>invoked explicitly</a:t>
            </a:r>
            <a:endParaRPr b="0" i="0" sz="2000" u="none" cap="none" strike="noStrike">
              <a:solidFill>
                <a:srgbClr val="01199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199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011993"/>
                </a:solidFill>
                <a:latin typeface="Gill Sans"/>
                <a:ea typeface="Gill Sans"/>
                <a:cs typeface="Gill Sans"/>
                <a:sym typeface="Gill Sans"/>
              </a:rPr>
              <a:t>String ashStringRep= ashTrash.toString();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01199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But </a:t>
            </a:r>
            <a:r>
              <a:rPr b="0" i="0" lang="en" sz="1900" u="none" cap="none" strike="noStrike">
                <a:solidFill>
                  <a:srgbClr val="008F00"/>
                </a:solidFill>
                <a:latin typeface="Gill Sans"/>
                <a:ea typeface="Gill Sans"/>
                <a:cs typeface="Gill Sans"/>
                <a:sym typeface="Gill Sans"/>
              </a:rPr>
              <a:t>Typically it’s invoked Implicitly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whenever you need a String representation of our object (i.e. like in System.out.println)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9" name="Google Shape;229;p38"/>
          <p:cNvGrpSpPr/>
          <p:nvPr/>
        </p:nvGrpSpPr>
        <p:grpSpPr>
          <a:xfrm>
            <a:off x="46155" y="-23245"/>
            <a:ext cx="759375" cy="356686"/>
            <a:chOff x="0" y="0"/>
            <a:chExt cx="2024998" cy="951161"/>
          </a:xfrm>
        </p:grpSpPr>
        <p:pic>
          <p:nvPicPr>
            <p:cNvPr id="230" name="Google Shape;23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51161" cy="951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38"/>
            <p:cNvSpPr txBox="1"/>
            <p:nvPr/>
          </p:nvSpPr>
          <p:spPr>
            <a:xfrm>
              <a:off x="980041" y="272380"/>
              <a:ext cx="1044957" cy="40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61001"/>
                </a:buClr>
                <a:buSzPts val="800"/>
                <a:buFont typeface="Bodoni"/>
                <a:buNone/>
              </a:pPr>
              <a:r>
                <a:rPr b="0" i="0" lang="en" sz="800" u="none" cap="none" strike="noStrike">
                  <a:solidFill>
                    <a:srgbClr val="861001"/>
                  </a:solidFill>
                  <a:latin typeface="Bodoni"/>
                  <a:ea typeface="Bodoni"/>
                  <a:cs typeface="Bodoni"/>
                  <a:sym typeface="Bodoni"/>
                </a:rPr>
                <a:t>Lecture 1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38"/>
          <p:cNvSpPr txBox="1"/>
          <p:nvPr/>
        </p:nvSpPr>
        <p:spPr>
          <a:xfrm>
            <a:off x="7444727" y="26510"/>
            <a:ext cx="1837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Concept: </a:t>
            </a:r>
            <a:r>
              <a:rPr b="0" i="0" lang="en" sz="800" u="none" cap="none" strike="noStrike">
                <a:solidFill>
                  <a:srgbClr val="342E7E"/>
                </a:solidFill>
                <a:latin typeface="Cutive"/>
                <a:ea typeface="Cutive"/>
                <a:cs typeface="Cutive"/>
                <a:sym typeface="Cutive"/>
              </a:rPr>
              <a:t>Classes and Java Review</a:t>
            </a: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Purpose: How Classes work in 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8370" y="4234780"/>
            <a:ext cx="6147259" cy="82088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8"/>
          <p:cNvSpPr txBox="1"/>
          <p:nvPr/>
        </p:nvSpPr>
        <p:spPr>
          <a:xfrm>
            <a:off x="3680854" y="-27339"/>
            <a:ext cx="1782292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18D"/>
              </a:buClr>
              <a:buSzPts val="1900"/>
              <a:buFont typeface="Gill Sans"/>
              <a:buNone/>
            </a:pPr>
            <a:r>
              <a:rPr b="0" i="0" lang="en" sz="19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5"/>
              </a:rPr>
              <a:t>click here for cod</a:t>
            </a:r>
            <a:r>
              <a:rPr b="0" i="0" lang="en" sz="1000" u="none" cap="none" strike="noStrike">
                <a:solidFill>
                  <a:schemeClr val="hlink"/>
                </a:solidFill>
                <a:highlight>
                  <a:srgbClr val="F4F4F4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https://suny-ow-edu.zoom.us/rec/share/FUQbqqmVY2DVolYO4dQ5hjhj0xfuc4VIWpxlpIZqlHuACMdgTpnwv8dp7g-o7J7h.x2GtqDny2UzkSALm</a:t>
            </a:r>
            <a:endParaRPr b="0" i="0" sz="1000" u="none" cap="none" strike="noStrike">
              <a:solidFill>
                <a:schemeClr val="hlink"/>
              </a:solidFill>
              <a:highlight>
                <a:srgbClr val="F4F4F4"/>
              </a:highlight>
              <a:uFill>
                <a:noFill/>
              </a:u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hlink"/>
              </a:solidFill>
              <a:uFill>
                <a:noFill/>
              </a:uFill>
              <a:latin typeface="Arial"/>
              <a:ea typeface="Arial"/>
              <a:cs typeface="Arial"/>
              <a:sym typeface="Arial"/>
              <a:hlinkClick r:id="rId8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18D"/>
              </a:buClr>
              <a:buSzPts val="1900"/>
              <a:buFont typeface="Gill Sans"/>
              <a:buNone/>
            </a:pPr>
            <a:r>
              <a:rPr b="0" i="0" lang="en" sz="19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9"/>
              </a:rPr>
              <a:t>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4162437" y="4232897"/>
            <a:ext cx="642352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000"/>
              <a:buFont typeface="Gill Sans"/>
              <a:buNone/>
            </a:pPr>
            <a:r>
              <a:rPr b="0" i="0" lang="en" sz="1000" u="sng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Student.java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68896" y="3485488"/>
            <a:ext cx="5429434" cy="3034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38"/>
          <p:cNvCxnSpPr/>
          <p:nvPr/>
        </p:nvCxnSpPr>
        <p:spPr>
          <a:xfrm>
            <a:off x="6254276" y="3749987"/>
            <a:ext cx="759374" cy="0"/>
          </a:xfrm>
          <a:prstGeom prst="straightConnector1">
            <a:avLst/>
          </a:prstGeom>
          <a:noFill/>
          <a:ln cap="flat" cmpd="sng" w="88900">
            <a:solidFill>
              <a:srgbClr val="00905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38" name="Google Shape;238;p38"/>
          <p:cNvCxnSpPr/>
          <p:nvPr/>
        </p:nvCxnSpPr>
        <p:spPr>
          <a:xfrm flipH="1">
            <a:off x="2961476" y="3770051"/>
            <a:ext cx="3505732" cy="670842"/>
          </a:xfrm>
          <a:prstGeom prst="straightConnector1">
            <a:avLst/>
          </a:prstGeom>
          <a:noFill/>
          <a:ln cap="flat" cmpd="sng" w="76200">
            <a:solidFill>
              <a:srgbClr val="00905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39" name="Google Shape;239;p38"/>
          <p:cNvSpPr txBox="1"/>
          <p:nvPr/>
        </p:nvSpPr>
        <p:spPr>
          <a:xfrm>
            <a:off x="2783831" y="3857074"/>
            <a:ext cx="1524517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51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009051"/>
                </a:solidFill>
                <a:latin typeface="Gill Sans"/>
                <a:ea typeface="Gill Sans"/>
                <a:cs typeface="Gill Sans"/>
                <a:sym typeface="Gill Sans"/>
              </a:rPr>
              <a:t>invokes toString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4679978" y="4017245"/>
            <a:ext cx="4460500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51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009051"/>
                </a:solidFill>
                <a:latin typeface="Gill Sans"/>
                <a:ea typeface="Gill Sans"/>
                <a:cs typeface="Gill Sans"/>
                <a:sym typeface="Gill Sans"/>
              </a:rPr>
              <a:t>and will evaluate to whatever String is returned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idx="4294967295" type="ctrTitle"/>
          </p:nvPr>
        </p:nvSpPr>
        <p:spPr>
          <a:xfrm>
            <a:off x="252413" y="1076325"/>
            <a:ext cx="8643937" cy="1709738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</a:pP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MECHANICS OF OVERRIDING EQUALS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4294967295" type="ctrTitle"/>
          </p:nvPr>
        </p:nvSpPr>
        <p:spPr>
          <a:xfrm>
            <a:off x="308658" y="546005"/>
            <a:ext cx="8643938" cy="1709738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93"/>
              </a:buClr>
              <a:buSzPts val="3800"/>
              <a:buFont typeface="Gill Sans"/>
              <a:buNone/>
            </a:pPr>
            <a:r>
              <a:rPr b="0" i="0" lang="en" sz="3800" u="none" cap="none" strike="noStrike">
                <a:solidFill>
                  <a:srgbClr val="009193"/>
                </a:solidFill>
                <a:latin typeface="Gill Sans"/>
                <a:ea typeface="Gill Sans"/>
                <a:cs typeface="Gill Sans"/>
                <a:sym typeface="Gill Sans"/>
              </a:rPr>
              <a:t>OVERRIDE</a:t>
            </a: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REFERS TO THE FACT THAT </a:t>
            </a:r>
            <a:r>
              <a:rPr b="0" i="0" lang="en" sz="3800" u="none" cap="none" strike="noStrike">
                <a:solidFill>
                  <a:srgbClr val="5E8B93"/>
                </a:solidFill>
                <a:latin typeface="Gill Sans"/>
                <a:ea typeface="Gill Sans"/>
                <a:cs typeface="Gill Sans"/>
                <a:sym typeface="Gill Sans"/>
              </a:rPr>
              <a:t>EVERY CLASS INHERITS</a:t>
            </a: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FROM THE </a:t>
            </a:r>
            <a:r>
              <a:rPr b="0" i="0" lang="en" sz="3800" u="none" cap="none" strike="noStrike">
                <a:solidFill>
                  <a:srgbClr val="009051"/>
                </a:solidFill>
                <a:latin typeface="Gill Sans"/>
                <a:ea typeface="Gill Sans"/>
                <a:cs typeface="Gill Sans"/>
                <a:sym typeface="Gill Sans"/>
              </a:rPr>
              <a:t>“GLOBAL BASE CLASS” </a:t>
            </a:r>
            <a:r>
              <a:rPr b="0" i="0" lang="en" sz="3800" u="sng" cap="none" strike="noStrike">
                <a:solidFill>
                  <a:srgbClr val="009051"/>
                </a:solidFill>
                <a:latin typeface="Gill Sans"/>
                <a:ea typeface="Gill Sans"/>
                <a:cs typeface="Gill Sans"/>
                <a:sym typeface="Gill Sans"/>
              </a:rPr>
              <a:t>OBJECT</a:t>
            </a:r>
            <a:r>
              <a:rPr b="0" i="0" lang="en" sz="3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IN JAVA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1" name="Google Shape;251;p40"/>
          <p:cNvSpPr txBox="1"/>
          <p:nvPr>
            <p:ph idx="4294967295" type="subTitle"/>
          </p:nvPr>
        </p:nvSpPr>
        <p:spPr>
          <a:xfrm>
            <a:off x="308658" y="2468308"/>
            <a:ext cx="8643938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Gill Sans"/>
              <a:buNone/>
            </a:pPr>
            <a:r>
              <a:rPr b="0" i="0" lang="en" sz="34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“EVERY CLASS IS AN OBJECT”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52" name="Google Shape;252;p40"/>
          <p:cNvGrpSpPr/>
          <p:nvPr/>
        </p:nvGrpSpPr>
        <p:grpSpPr>
          <a:xfrm>
            <a:off x="46155" y="-23245"/>
            <a:ext cx="759375" cy="356686"/>
            <a:chOff x="0" y="0"/>
            <a:chExt cx="2024998" cy="951161"/>
          </a:xfrm>
        </p:grpSpPr>
        <p:pic>
          <p:nvPicPr>
            <p:cNvPr id="253" name="Google Shape;253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51161" cy="951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40"/>
            <p:cNvSpPr txBox="1"/>
            <p:nvPr/>
          </p:nvSpPr>
          <p:spPr>
            <a:xfrm>
              <a:off x="980041" y="272380"/>
              <a:ext cx="1044957" cy="40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61001"/>
                </a:buClr>
                <a:buSzPts val="800"/>
                <a:buFont typeface="Bodoni"/>
                <a:buNone/>
              </a:pPr>
              <a:r>
                <a:rPr b="0" i="0" lang="en" sz="800" u="none" cap="none" strike="noStrike">
                  <a:solidFill>
                    <a:srgbClr val="861001"/>
                  </a:solidFill>
                  <a:latin typeface="Bodoni"/>
                  <a:ea typeface="Bodoni"/>
                  <a:cs typeface="Bodoni"/>
                  <a:sym typeface="Bodoni"/>
                </a:rPr>
                <a:t>Lecture 1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40"/>
          <p:cNvSpPr txBox="1"/>
          <p:nvPr/>
        </p:nvSpPr>
        <p:spPr>
          <a:xfrm>
            <a:off x="7444727" y="26510"/>
            <a:ext cx="1837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Concept: </a:t>
            </a:r>
            <a:r>
              <a:rPr b="0" i="0" lang="en" sz="800" u="none" cap="none" strike="noStrike">
                <a:solidFill>
                  <a:srgbClr val="342E7E"/>
                </a:solidFill>
                <a:latin typeface="Cutive"/>
                <a:ea typeface="Cutive"/>
                <a:cs typeface="Cutive"/>
                <a:sym typeface="Cutive"/>
              </a:rPr>
              <a:t>Classes and Java Review</a:t>
            </a: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Purpose: How Classes work in 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0"/>
          <p:cNvSpPr txBox="1"/>
          <p:nvPr/>
        </p:nvSpPr>
        <p:spPr>
          <a:xfrm>
            <a:off x="98400" y="3122588"/>
            <a:ext cx="8947200" cy="852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Object defines its own toString Method, so if you write a class without a toString method, it’ll use Object’s toString method (which just prints out a random number called the object hashcode).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idx="4294967295" type="ctrTitle"/>
          </p:nvPr>
        </p:nvSpPr>
        <p:spPr>
          <a:xfrm>
            <a:off x="172061" y="417442"/>
            <a:ext cx="8643938" cy="893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000"/>
              <a:buFont typeface="Gill Sans"/>
              <a:buNone/>
            </a:pPr>
            <a:r>
              <a:rPr b="0" i="0" lang="en" sz="3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THE OTHER THING WE HAVE TO OVERRIDE IN OUR CLASS (FROM OBJECT) IS CALLED EQUALS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62" name="Google Shape;262;p41"/>
          <p:cNvGrpSpPr/>
          <p:nvPr/>
        </p:nvGrpSpPr>
        <p:grpSpPr>
          <a:xfrm>
            <a:off x="46155" y="-23245"/>
            <a:ext cx="759375" cy="356686"/>
            <a:chOff x="0" y="0"/>
            <a:chExt cx="2024998" cy="951161"/>
          </a:xfrm>
        </p:grpSpPr>
        <p:pic>
          <p:nvPicPr>
            <p:cNvPr id="263" name="Google Shape;263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51161" cy="951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41"/>
            <p:cNvSpPr txBox="1"/>
            <p:nvPr/>
          </p:nvSpPr>
          <p:spPr>
            <a:xfrm>
              <a:off x="980041" y="272380"/>
              <a:ext cx="1044957" cy="40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61001"/>
                </a:buClr>
                <a:buSzPts val="800"/>
                <a:buFont typeface="Bodoni"/>
                <a:buNone/>
              </a:pPr>
              <a:r>
                <a:rPr b="0" i="0" lang="en" sz="800" u="none" cap="none" strike="noStrike">
                  <a:solidFill>
                    <a:srgbClr val="861001"/>
                  </a:solidFill>
                  <a:latin typeface="Bodoni"/>
                  <a:ea typeface="Bodoni"/>
                  <a:cs typeface="Bodoni"/>
                  <a:sym typeface="Bodoni"/>
                </a:rPr>
                <a:t>Lecture 1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41"/>
          <p:cNvSpPr txBox="1"/>
          <p:nvPr/>
        </p:nvSpPr>
        <p:spPr>
          <a:xfrm>
            <a:off x="7444727" y="26510"/>
            <a:ext cx="1837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Concept: </a:t>
            </a:r>
            <a:r>
              <a:rPr b="0" i="0" lang="en" sz="800" u="none" cap="none" strike="noStrike">
                <a:solidFill>
                  <a:srgbClr val="342E7E"/>
                </a:solidFill>
                <a:latin typeface="Cutive"/>
                <a:ea typeface="Cutive"/>
                <a:cs typeface="Cutive"/>
                <a:sym typeface="Cutive"/>
              </a:rPr>
              <a:t>Classes and Java Review</a:t>
            </a: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utive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Purpose: How Classes work in 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1"/>
          <p:cNvSpPr txBox="1"/>
          <p:nvPr/>
        </p:nvSpPr>
        <p:spPr>
          <a:xfrm>
            <a:off x="16717" y="1552638"/>
            <a:ext cx="9110565" cy="1395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What does it mean if we have Student A and Student B— what does it mean for these to be equal?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A.equals(B) will only be true if they are the same object in memory— THIS IS INCORRECT because if Student A and Student B could have the same, for example student ID number, and in that case maybe we want to declare them the same student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1"/>
          <p:cNvSpPr txBox="1"/>
          <p:nvPr/>
        </p:nvSpPr>
        <p:spPr>
          <a:xfrm>
            <a:off x="1645164" y="3189546"/>
            <a:ext cx="5853671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to Compare two objects of our class we must override equals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1"/>
          <p:cNvSpPr txBox="1"/>
          <p:nvPr/>
        </p:nvSpPr>
        <p:spPr>
          <a:xfrm>
            <a:off x="2416" y="3454986"/>
            <a:ext cx="9139168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to Override a method we must match the function prototype exactly, Object’s equals takes in an Object as a parameter, thus we must match this in our class.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41"/>
          <p:cNvPicPr preferRelativeResize="0"/>
          <p:nvPr/>
        </p:nvPicPr>
        <p:blipFill rotWithShape="1">
          <a:blip r:embed="rId4">
            <a:alphaModFix/>
          </a:blip>
          <a:srcRect b="79300" l="0" r="0" t="0"/>
          <a:stretch/>
        </p:blipFill>
        <p:spPr>
          <a:xfrm>
            <a:off x="2433414" y="4167248"/>
            <a:ext cx="4277116" cy="31738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1"/>
          <p:cNvSpPr txBox="1"/>
          <p:nvPr/>
        </p:nvSpPr>
        <p:spPr>
          <a:xfrm>
            <a:off x="2808925" y="4690916"/>
            <a:ext cx="2915478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Note equals returns a boolean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idx="4294967295" type="ctrTitle"/>
          </p:nvPr>
        </p:nvSpPr>
        <p:spPr>
          <a:xfrm>
            <a:off x="250031" y="19878"/>
            <a:ext cx="8643937" cy="91233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000"/>
              <a:buFont typeface="Gill Sans"/>
              <a:buNone/>
            </a:pPr>
            <a:r>
              <a:rPr b="0" i="0" lang="en" sz="3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WE ALWAYS DO THE FOLLOWING  WHEN WE OVERRIDE EQUALS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6" name="Google Shape;276;p42"/>
          <p:cNvSpPr txBox="1"/>
          <p:nvPr/>
        </p:nvSpPr>
        <p:spPr>
          <a:xfrm>
            <a:off x="-9525" y="1286612"/>
            <a:ext cx="916305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Check whether the OBJECT type parameter passed in is actually the same type as our CLASS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Cast the parameter to our class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Check if some subsection of private variables of both objects equal each other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AutoNum type="arabicParenR"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Return true or false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583" y="2471831"/>
            <a:ext cx="5899142" cy="2114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42"/>
          <p:cNvCxnSpPr/>
          <p:nvPr/>
        </p:nvCxnSpPr>
        <p:spPr>
          <a:xfrm flipH="1">
            <a:off x="2468067" y="2328457"/>
            <a:ext cx="1180152" cy="237804"/>
          </a:xfrm>
          <a:prstGeom prst="straightConnector1">
            <a:avLst/>
          </a:prstGeom>
          <a:noFill/>
          <a:ln cap="flat" cmpd="sng" w="25400">
            <a:solidFill>
              <a:srgbClr val="5A5F5E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79" name="Google Shape;279;p42"/>
          <p:cNvSpPr txBox="1"/>
          <p:nvPr/>
        </p:nvSpPr>
        <p:spPr>
          <a:xfrm>
            <a:off x="3653702" y="2210742"/>
            <a:ext cx="3395414" cy="223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785"/>
              </a:buClr>
              <a:buSzPts val="1300"/>
              <a:buFont typeface="Gill Sans"/>
              <a:buNone/>
            </a:pPr>
            <a:r>
              <a:rPr b="0" i="0" lang="en" sz="1300" u="none" cap="none" strike="noStrike">
                <a:solidFill>
                  <a:srgbClr val="808785"/>
                </a:solidFill>
                <a:latin typeface="Gill Sans"/>
                <a:ea typeface="Gill Sans"/>
                <a:cs typeface="Gill Sans"/>
                <a:sym typeface="Gill Sans"/>
              </a:rPr>
              <a:t>this is convention for any override but not required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42"/>
          <p:cNvCxnSpPr/>
          <p:nvPr/>
        </p:nvCxnSpPr>
        <p:spPr>
          <a:xfrm flipH="1" rot="10800000">
            <a:off x="5457943" y="3909837"/>
            <a:ext cx="333739" cy="214483"/>
          </a:xfrm>
          <a:prstGeom prst="straightConnector1">
            <a:avLst/>
          </a:prstGeom>
          <a:noFill/>
          <a:ln cap="flat" cmpd="sng" w="63500">
            <a:solidFill>
              <a:schemeClr val="accent4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81" name="Google Shape;281;p42"/>
          <p:cNvSpPr txBox="1"/>
          <p:nvPr/>
        </p:nvSpPr>
        <p:spPr>
          <a:xfrm>
            <a:off x="3069711" y="3971216"/>
            <a:ext cx="5968004" cy="595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Gill Sans"/>
              <a:buNone/>
            </a:pPr>
            <a:r>
              <a:rPr b="0" i="0" lang="en" sz="13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should</a:t>
            </a:r>
            <a:r>
              <a:rPr b="0" i="0" lang="en" sz="13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actually </a:t>
            </a:r>
            <a:r>
              <a:rPr b="0" i="0" lang="en" sz="13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use</a:t>
            </a:r>
            <a:r>
              <a:rPr b="0" i="0" lang="en" sz="13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the </a:t>
            </a:r>
            <a:r>
              <a:rPr b="0" i="0" lang="en" sz="13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getters (i.e. getsevenHundredNumber)</a:t>
            </a:r>
            <a:r>
              <a:rPr b="0" i="0" lang="en" sz="13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, bad programming practice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300"/>
              <a:buFont typeface="Gill Sans"/>
              <a:buNone/>
            </a:pPr>
            <a:r>
              <a:rPr b="0" i="0" lang="en" sz="13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but still works because </a:t>
            </a:r>
            <a:r>
              <a:rPr b="0" i="0" lang="en" sz="1300" u="none" cap="none" strike="noStrike">
                <a:solidFill>
                  <a:srgbClr val="AE4A08"/>
                </a:solidFill>
                <a:latin typeface="Gill Sans"/>
                <a:ea typeface="Gill Sans"/>
                <a:cs typeface="Gill Sans"/>
                <a:sym typeface="Gill Sans"/>
              </a:rPr>
              <a:t>objects of the same class</a:t>
            </a:r>
            <a:r>
              <a:rPr b="0" i="0" lang="en" sz="13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can directly access each others private variables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idx="4294967295" type="ctrTitle"/>
          </p:nvPr>
        </p:nvSpPr>
        <p:spPr>
          <a:xfrm>
            <a:off x="250031" y="920910"/>
            <a:ext cx="8643937" cy="1709738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900"/>
              <a:buFont typeface="Gill Sans"/>
              <a:buNone/>
            </a:pPr>
            <a:r>
              <a:rPr b="0" i="0" lang="en" sz="2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2 QUESTIONS: 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900"/>
              <a:buFont typeface="Gill Sans"/>
              <a:buNone/>
            </a:pPr>
            <a:r>
              <a:rPr b="0" i="0" lang="en" sz="2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1)WHY DO CLASSES NEED  </a:t>
            </a:r>
            <a:r>
              <a:rPr b="0" i="0" lang="en" sz="2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TOSTRING</a:t>
            </a:r>
            <a:r>
              <a:rPr b="0" i="0" lang="en" sz="2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AND </a:t>
            </a:r>
            <a:r>
              <a:rPr b="0" i="0" lang="en" sz="2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EQUALS?</a:t>
            </a:r>
            <a:r>
              <a:rPr b="0" i="0" lang="en" sz="2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900"/>
              <a:buFont typeface="Gill Sans"/>
              <a:buNone/>
            </a:pPr>
            <a:r>
              <a:rPr b="0" i="0" lang="en" sz="2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2) AND WHY ARE THEY </a:t>
            </a:r>
            <a:r>
              <a:rPr b="0" i="0" lang="en" sz="2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OVERRIDED?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7" name="Google Shape;287;p43"/>
          <p:cNvSpPr txBox="1"/>
          <p:nvPr/>
        </p:nvSpPr>
        <p:spPr>
          <a:xfrm>
            <a:off x="646446" y="3173242"/>
            <a:ext cx="7851107" cy="869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These are deep questions, and to begin this discussion we have to talk about</a:t>
            </a:r>
            <a:r>
              <a:rPr b="1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1" i="0" sz="1900" u="none" cap="none" strike="noStrike">
              <a:solidFill>
                <a:schemeClr val="accent4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1900"/>
              <a:buFont typeface="Gill Sans"/>
              <a:buNone/>
            </a:pPr>
            <a:r>
              <a:rPr b="0" i="0" lang="en" sz="1900" u="sng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Question 1  We’ll answer today and involves</a:t>
            </a:r>
            <a:r>
              <a:rPr b="1" i="0" lang="en" sz="1900" u="sng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 reference or object types </a:t>
            </a:r>
            <a:r>
              <a:rPr b="0" i="0" lang="en" sz="1900" u="sng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and</a:t>
            </a:r>
            <a:r>
              <a:rPr b="0" i="0" lang="en" sz="1900" u="sng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1" i="0" sz="1900" u="none" cap="none" strike="noStrike">
              <a:solidFill>
                <a:schemeClr val="accent4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Question 2 we’ll answer later and involves</a:t>
            </a:r>
            <a:r>
              <a:rPr b="1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 inheritance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/>
        </p:nvSpPr>
        <p:spPr>
          <a:xfrm>
            <a:off x="2410242" y="1959466"/>
            <a:ext cx="43235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Cutive"/>
              <a:buNone/>
            </a:pPr>
            <a:r>
              <a:rPr b="0" i="0" lang="en" sz="17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Concept: </a:t>
            </a:r>
            <a:r>
              <a:rPr b="0" i="0" lang="en" sz="1700" u="none" cap="none" strike="noStrike">
                <a:solidFill>
                  <a:srgbClr val="342E7E"/>
                </a:solidFill>
                <a:latin typeface="Cutive"/>
                <a:ea typeface="Cutive"/>
                <a:cs typeface="Cutive"/>
                <a:sym typeface="Cutive"/>
              </a:rPr>
              <a:t>Primitive and Reference Types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Cutive"/>
              <a:buNone/>
            </a:pPr>
            <a:r>
              <a:rPr b="0" i="0" lang="en" sz="17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Purpose: How Types work in 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44"/>
          <p:cNvGrpSpPr/>
          <p:nvPr/>
        </p:nvGrpSpPr>
        <p:grpSpPr>
          <a:xfrm>
            <a:off x="46155" y="-23245"/>
            <a:ext cx="759375" cy="356686"/>
            <a:chOff x="0" y="0"/>
            <a:chExt cx="2024998" cy="951161"/>
          </a:xfrm>
        </p:grpSpPr>
        <p:pic>
          <p:nvPicPr>
            <p:cNvPr id="294" name="Google Shape;294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51161" cy="951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44"/>
            <p:cNvSpPr txBox="1"/>
            <p:nvPr/>
          </p:nvSpPr>
          <p:spPr>
            <a:xfrm>
              <a:off x="980041" y="272380"/>
              <a:ext cx="1044957" cy="40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61001"/>
                </a:buClr>
                <a:buSzPts val="800"/>
                <a:buFont typeface="Bodoni"/>
                <a:buNone/>
              </a:pPr>
              <a:r>
                <a:rPr b="0" i="0" lang="en" sz="800" u="none" cap="none" strike="noStrike">
                  <a:solidFill>
                    <a:srgbClr val="861001"/>
                  </a:solidFill>
                  <a:latin typeface="Bodoni"/>
                  <a:ea typeface="Bodoni"/>
                  <a:cs typeface="Bodoni"/>
                  <a:sym typeface="Bodoni"/>
                </a:rPr>
                <a:t>Lecture 3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301" name="Google Shape;301;p45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302" name="Google Shape;30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7050" y="51713"/>
            <a:ext cx="9144000" cy="50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308" name="Google Shape;308;p46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309" name="Google Shape;30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1" y="0"/>
            <a:ext cx="910945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315" name="Google Shape;315;p47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316" name="Google Shape;31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33" y="-33450"/>
            <a:ext cx="91145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 txBox="1"/>
          <p:nvPr>
            <p:ph idx="4294967295" type="ctrTitle"/>
          </p:nvPr>
        </p:nvSpPr>
        <p:spPr>
          <a:xfrm>
            <a:off x="250031" y="169308"/>
            <a:ext cx="8643937" cy="4586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900"/>
              <a:buFont typeface="Gill Sans"/>
              <a:buNone/>
            </a:pPr>
            <a:r>
              <a:rPr b="0" i="0" lang="en" sz="2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WHAT DOES THIS MEAN?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2" name="Google Shape;322;p48"/>
          <p:cNvSpPr txBox="1"/>
          <p:nvPr/>
        </p:nvSpPr>
        <p:spPr>
          <a:xfrm>
            <a:off x="955846" y="878525"/>
            <a:ext cx="7232308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TPS: Discuss with your neighbor what will happen in the following code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what will Y’s value be by code’s end? What will ash2’s value be by code’s end?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48"/>
          <p:cNvGrpSpPr/>
          <p:nvPr/>
        </p:nvGrpSpPr>
        <p:grpSpPr>
          <a:xfrm>
            <a:off x="46155" y="-23245"/>
            <a:ext cx="759375" cy="356686"/>
            <a:chOff x="0" y="0"/>
            <a:chExt cx="2024998" cy="951161"/>
          </a:xfrm>
        </p:grpSpPr>
        <p:pic>
          <p:nvPicPr>
            <p:cNvPr id="324" name="Google Shape;324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51161" cy="951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48"/>
            <p:cNvSpPr txBox="1"/>
            <p:nvPr/>
          </p:nvSpPr>
          <p:spPr>
            <a:xfrm>
              <a:off x="980041" y="272380"/>
              <a:ext cx="1044957" cy="40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61001"/>
                </a:buClr>
                <a:buSzPts val="800"/>
                <a:buFont typeface="Bodoni"/>
                <a:buNone/>
              </a:pPr>
              <a:r>
                <a:rPr b="0" i="0" lang="en" sz="800" u="none" cap="none" strike="noStrike">
                  <a:solidFill>
                    <a:srgbClr val="861001"/>
                  </a:solidFill>
                  <a:latin typeface="Bodoni"/>
                  <a:ea typeface="Bodoni"/>
                  <a:cs typeface="Bodoni"/>
                  <a:sym typeface="Bodoni"/>
                </a:rPr>
                <a:t>Lecture 3</a:t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48"/>
          <p:cNvSpPr txBox="1"/>
          <p:nvPr/>
        </p:nvSpPr>
        <p:spPr>
          <a:xfrm>
            <a:off x="6903141" y="2697"/>
            <a:ext cx="22927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utive"/>
              <a:buNone/>
            </a:pPr>
            <a:r>
              <a:rPr b="0" i="0" lang="en" sz="9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Concept: </a:t>
            </a:r>
            <a:r>
              <a:rPr b="0" i="0" lang="en" sz="900" u="none" cap="none" strike="noStrike">
                <a:solidFill>
                  <a:srgbClr val="342E7E"/>
                </a:solidFill>
                <a:latin typeface="Cutive"/>
                <a:ea typeface="Cutive"/>
                <a:cs typeface="Cutive"/>
                <a:sym typeface="Cutive"/>
              </a:rPr>
              <a:t>Primitive and Reference Types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utive"/>
              <a:buNone/>
            </a:pPr>
            <a:r>
              <a:rPr b="0" i="0" lang="en" sz="900" u="none" cap="none" strike="noStrike">
                <a:solidFill>
                  <a:schemeClr val="accent6"/>
                </a:solidFill>
                <a:latin typeface="Cutive"/>
                <a:ea typeface="Cutive"/>
                <a:cs typeface="Cutive"/>
                <a:sym typeface="Cutive"/>
              </a:rPr>
              <a:t>Purpose: How Types work in Java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8"/>
          <p:cNvSpPr txBox="1"/>
          <p:nvPr/>
        </p:nvSpPr>
        <p:spPr>
          <a:xfrm>
            <a:off x="1382401" y="4790000"/>
            <a:ext cx="6379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https://repl.it/@ashokbasawapatna/Object-Types-Vs-Primitives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8"/>
          <p:cNvSpPr txBox="1"/>
          <p:nvPr/>
        </p:nvSpPr>
        <p:spPr>
          <a:xfrm>
            <a:off x="2755155" y="4505217"/>
            <a:ext cx="3633690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AFTER you submit, run the code here!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887" y="1662796"/>
            <a:ext cx="7182226" cy="2923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335" name="Google Shape;335;p49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336" name="Google Shape;33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75" y="9525"/>
            <a:ext cx="9115425" cy="51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0"/>
          <p:cNvSpPr txBox="1"/>
          <p:nvPr>
            <p:ph idx="4294967295" type="ctrTitle"/>
          </p:nvPr>
        </p:nvSpPr>
        <p:spPr>
          <a:xfrm>
            <a:off x="250031" y="33276"/>
            <a:ext cx="8643937" cy="105933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Gill Sans"/>
              <a:buNone/>
            </a:pPr>
            <a:r>
              <a:rPr b="0" i="0" lang="en" sz="1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SO HOW DO WE COPY OBJECTS IN JAVA SUCH THAT EACH OBJECT HAS IT’S OWN COPY IN MEMORY? 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Gill Sans"/>
              <a:buNone/>
            </a:pPr>
            <a:r>
              <a:rPr b="0" i="1" lang="en" sz="1800" u="sng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“DEEP COPY</a:t>
            </a:r>
            <a:r>
              <a:rPr b="0" i="0" lang="en" sz="18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”: TWO OBJECTS WITH THE SAME VALUES BUT EACH HAS </a:t>
            </a:r>
            <a:r>
              <a:rPr b="0" i="0" lang="en" sz="1800" u="sng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THEIR OWN MEMORY LOCATION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2" name="Google Shape;342;p50"/>
          <p:cNvSpPr txBox="1"/>
          <p:nvPr>
            <p:ph idx="4294967295" type="subTitle"/>
          </p:nvPr>
        </p:nvSpPr>
        <p:spPr>
          <a:xfrm>
            <a:off x="710745" y="1214731"/>
            <a:ext cx="6116782" cy="3989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None/>
            </a:pPr>
            <a:r>
              <a:rPr b="0" i="0" lang="en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Basically how do we get the following with reference types?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3" name="Google Shape;343;p50"/>
          <p:cNvSpPr/>
          <p:nvPr/>
        </p:nvSpPr>
        <p:spPr>
          <a:xfrm>
            <a:off x="2461702" y="2357800"/>
            <a:ext cx="1537266" cy="1049810"/>
          </a:xfrm>
          <a:prstGeom prst="rect">
            <a:avLst/>
          </a:prstGeom>
          <a:noFill/>
          <a:ln cap="flat" cmpd="sng" w="25400">
            <a:solidFill>
              <a:srgbClr val="808785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4" name="Google Shape;344;p50"/>
          <p:cNvSpPr/>
          <p:nvPr/>
        </p:nvSpPr>
        <p:spPr>
          <a:xfrm>
            <a:off x="7232960" y="1819917"/>
            <a:ext cx="1475577" cy="1049811"/>
          </a:xfrm>
          <a:prstGeom prst="rect">
            <a:avLst/>
          </a:prstGeom>
          <a:noFill/>
          <a:ln cap="flat" cmpd="sng" w="25400">
            <a:solidFill>
              <a:srgbClr val="808785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50"/>
          <p:cNvSpPr txBox="1"/>
          <p:nvPr/>
        </p:nvSpPr>
        <p:spPr>
          <a:xfrm>
            <a:off x="7080965" y="1282752"/>
            <a:ext cx="1717877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memory location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0x447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0"/>
          <p:cNvSpPr txBox="1"/>
          <p:nvPr/>
        </p:nvSpPr>
        <p:spPr>
          <a:xfrm>
            <a:off x="7190060" y="1896246"/>
            <a:ext cx="156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name=“Ashok”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age=…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0"/>
          <p:cNvSpPr txBox="1"/>
          <p:nvPr/>
        </p:nvSpPr>
        <p:spPr>
          <a:xfrm>
            <a:off x="2453949" y="2416969"/>
            <a:ext cx="1552771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ashtrash=0x447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50"/>
          <p:cNvCxnSpPr/>
          <p:nvPr/>
        </p:nvCxnSpPr>
        <p:spPr>
          <a:xfrm>
            <a:off x="2451155" y="2930639"/>
            <a:ext cx="1558359" cy="0"/>
          </a:xfrm>
          <a:prstGeom prst="straightConnector1">
            <a:avLst/>
          </a:prstGeom>
          <a:noFill/>
          <a:ln cap="flat" cmpd="sng" w="25400">
            <a:solidFill>
              <a:srgbClr val="5A5F5E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349" name="Google Shape;349;p50"/>
          <p:cNvSpPr txBox="1"/>
          <p:nvPr/>
        </p:nvSpPr>
        <p:spPr>
          <a:xfrm>
            <a:off x="2624288" y="3003436"/>
            <a:ext cx="1212094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ash2=0x992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0"/>
          <p:cNvSpPr/>
          <p:nvPr/>
        </p:nvSpPr>
        <p:spPr>
          <a:xfrm>
            <a:off x="7123990" y="3601797"/>
            <a:ext cx="1475577" cy="1049810"/>
          </a:xfrm>
          <a:prstGeom prst="rect">
            <a:avLst/>
          </a:prstGeom>
          <a:noFill/>
          <a:ln cap="flat" cmpd="sng" w="25400">
            <a:solidFill>
              <a:srgbClr val="808785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1" name="Google Shape;351;p50"/>
          <p:cNvSpPr txBox="1"/>
          <p:nvPr/>
        </p:nvSpPr>
        <p:spPr>
          <a:xfrm>
            <a:off x="6971996" y="3064631"/>
            <a:ext cx="1717877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memory location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0x992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0"/>
          <p:cNvSpPr txBox="1"/>
          <p:nvPr/>
        </p:nvSpPr>
        <p:spPr>
          <a:xfrm>
            <a:off x="7081092" y="3678126"/>
            <a:ext cx="156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name=“Ashok”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age=…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0"/>
          <p:cNvSpPr txBox="1"/>
          <p:nvPr/>
        </p:nvSpPr>
        <p:spPr>
          <a:xfrm>
            <a:off x="331333" y="4702749"/>
            <a:ext cx="8643938" cy="3989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Note each variable, ashtrash and ash2, </a:t>
            </a:r>
            <a:r>
              <a:rPr b="0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references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(or </a:t>
            </a:r>
            <a:r>
              <a:rPr b="0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”points to”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) different</a:t>
            </a:r>
            <a:r>
              <a:rPr b="0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 memory locations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50"/>
          <p:cNvCxnSpPr/>
          <p:nvPr/>
        </p:nvCxnSpPr>
        <p:spPr>
          <a:xfrm flipH="1" rot="10800000">
            <a:off x="3998100" y="1590812"/>
            <a:ext cx="3059500" cy="1047272"/>
          </a:xfrm>
          <a:prstGeom prst="straightConnector1">
            <a:avLst/>
          </a:prstGeom>
          <a:noFill/>
          <a:ln cap="flat" cmpd="sng" w="50800">
            <a:solidFill>
              <a:srgbClr val="9D46A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55" name="Google Shape;355;p50"/>
          <p:cNvCxnSpPr/>
          <p:nvPr/>
        </p:nvCxnSpPr>
        <p:spPr>
          <a:xfrm>
            <a:off x="3998100" y="3096849"/>
            <a:ext cx="3057540" cy="359214"/>
          </a:xfrm>
          <a:prstGeom prst="straightConnector1">
            <a:avLst/>
          </a:prstGeom>
          <a:noFill/>
          <a:ln cap="flat" cmpd="sng" w="50800">
            <a:solidFill>
              <a:srgbClr val="9D46A1"/>
            </a:solidFill>
            <a:prstDash val="solid"/>
            <a:miter lim="4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/>
          <p:nvPr>
            <p:ph idx="4294967295" type="ctrTitle"/>
          </p:nvPr>
        </p:nvSpPr>
        <p:spPr>
          <a:xfrm>
            <a:off x="250031" y="1104619"/>
            <a:ext cx="8643900" cy="8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900"/>
              <a:buFont typeface="Gill Sans"/>
              <a:buNone/>
            </a:pPr>
            <a:r>
              <a:rPr b="0" i="0" lang="en" sz="2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QUESTION 1: HOW DO THESE </a:t>
            </a:r>
            <a:r>
              <a:rPr b="0" i="0" lang="en" sz="2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REFERENCE OR OBJECT</a:t>
            </a:r>
            <a:r>
              <a:rPr b="0" i="0" lang="en" sz="2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TYPES </a:t>
            </a:r>
            <a:r>
              <a:rPr b="0" i="0" lang="en" sz="2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GET THEIR OWN MEMORY LOCATIONS?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1" name="Google Shape;361;p51"/>
          <p:cNvSpPr txBox="1"/>
          <p:nvPr/>
        </p:nvSpPr>
        <p:spPr>
          <a:xfrm>
            <a:off x="3754809" y="2287655"/>
            <a:ext cx="185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The </a:t>
            </a:r>
            <a:r>
              <a:rPr b="1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new</a:t>
            </a: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keyword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1"/>
          <p:cNvSpPr txBox="1"/>
          <p:nvPr/>
        </p:nvSpPr>
        <p:spPr>
          <a:xfrm>
            <a:off x="2932476" y="2788973"/>
            <a:ext cx="34947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 saying </a:t>
            </a:r>
            <a:r>
              <a:rPr b="1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new</a:t>
            </a:r>
            <a:r>
              <a:rPr b="1" i="0" lang="en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" sz="1900" u="none" cap="none" strike="noStrike">
                <a:solidFill>
                  <a:schemeClr val="accent4"/>
                </a:solidFill>
                <a:latin typeface="Gill Sans"/>
                <a:ea typeface="Gill Sans"/>
                <a:cs typeface="Gill Sans"/>
                <a:sym typeface="Gill Sans"/>
              </a:rPr>
              <a:t>invokes the constructor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51"/>
          <p:cNvPicPr preferRelativeResize="0"/>
          <p:nvPr/>
        </p:nvPicPr>
        <p:blipFill rotWithShape="1">
          <a:blip r:embed="rId3">
            <a:alphaModFix/>
          </a:blip>
          <a:srcRect b="25043" l="0" r="0" t="56021"/>
          <a:stretch/>
        </p:blipFill>
        <p:spPr>
          <a:xfrm>
            <a:off x="980888" y="3487605"/>
            <a:ext cx="7182226" cy="55366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1"/>
          <p:cNvSpPr txBox="1"/>
          <p:nvPr/>
        </p:nvSpPr>
        <p:spPr>
          <a:xfrm>
            <a:off x="2" y="4291001"/>
            <a:ext cx="88464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Notice </a:t>
            </a:r>
            <a:r>
              <a:rPr b="0" i="0" lang="en" sz="1900" u="none" cap="none" strike="noStrike">
                <a:solidFill>
                  <a:srgbClr val="33A438"/>
                </a:solidFill>
                <a:latin typeface="Gill Sans"/>
                <a:ea typeface="Gill Sans"/>
                <a:cs typeface="Gill Sans"/>
                <a:sym typeface="Gill Sans"/>
              </a:rPr>
              <a:t>we used the new keyword with ashtrash object, giving it a memory location</a:t>
            </a:r>
            <a:endParaRPr b="0" i="0" sz="1900" u="none" cap="none" strike="noStrike">
              <a:solidFill>
                <a:srgbClr val="33A438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However, for ash2 object, we set equal to ashTrash,</a:t>
            </a:r>
            <a:r>
              <a:rPr b="0" i="0" lang="en" sz="19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rPr>
              <a:t> ash2 never invoked the new keyword and thus never got its own memory location!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>
            <p:ph idx="4294967295" type="ctrTitle"/>
          </p:nvPr>
        </p:nvSpPr>
        <p:spPr>
          <a:xfrm>
            <a:off x="250031" y="61193"/>
            <a:ext cx="8643937" cy="549443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400"/>
              <a:buFont typeface="Gill Sans"/>
              <a:buNone/>
            </a:pPr>
            <a:r>
              <a:rPr b="0" i="0" lang="en" sz="24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HOW DO YOU DEEP COPY OBJECTS IN JAVA?</a:t>
            </a:r>
            <a:endParaRPr b="0" i="0" sz="24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70" name="Google Shape;370;p52"/>
          <p:cNvPicPr preferRelativeResize="0"/>
          <p:nvPr/>
        </p:nvPicPr>
        <p:blipFill rotWithShape="1">
          <a:blip r:embed="rId3">
            <a:alphaModFix/>
          </a:blip>
          <a:srcRect b="25043" l="0" r="0" t="56021"/>
          <a:stretch/>
        </p:blipFill>
        <p:spPr>
          <a:xfrm>
            <a:off x="2047267" y="999452"/>
            <a:ext cx="4941726" cy="38094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2"/>
          <p:cNvSpPr txBox="1"/>
          <p:nvPr/>
        </p:nvSpPr>
        <p:spPr>
          <a:xfrm>
            <a:off x="3751606" y="659744"/>
            <a:ext cx="1640789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So instead of this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2"/>
          <p:cNvSpPr txBox="1"/>
          <p:nvPr/>
        </p:nvSpPr>
        <p:spPr>
          <a:xfrm>
            <a:off x="505375" y="1542816"/>
            <a:ext cx="8133251" cy="32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ill Sans"/>
              <a:buNone/>
            </a:pP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We Could pass the </a:t>
            </a:r>
            <a:r>
              <a:rPr b="0" i="0" lang="en" sz="2000" u="none" cap="none" strike="noStrike">
                <a:solidFill>
                  <a:srgbClr val="5E8B93"/>
                </a:solidFill>
                <a:latin typeface="Gill Sans"/>
                <a:ea typeface="Gill Sans"/>
                <a:cs typeface="Gill Sans"/>
                <a:sym typeface="Gill Sans"/>
              </a:rPr>
              <a:t>values from the object we want to copy</a:t>
            </a:r>
            <a:r>
              <a:rPr b="0" i="0" lang="en" sz="20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into the </a:t>
            </a:r>
            <a:r>
              <a:rPr b="0" i="0" lang="en" sz="2000" u="none" cap="none" strike="noStrike">
                <a:solidFill>
                  <a:srgbClr val="5E8B93"/>
                </a:solidFill>
                <a:latin typeface="Gill Sans"/>
                <a:ea typeface="Gill Sans"/>
                <a:cs typeface="Gill Sans"/>
                <a:sym typeface="Gill Sans"/>
              </a:rPr>
              <a:t>constructor</a:t>
            </a: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52"/>
          <p:cNvPicPr preferRelativeResize="0"/>
          <p:nvPr/>
        </p:nvPicPr>
        <p:blipFill rotWithShape="1">
          <a:blip r:embed="rId4">
            <a:alphaModFix/>
          </a:blip>
          <a:srcRect b="75441" l="2320" r="11501" t="0"/>
          <a:stretch/>
        </p:blipFill>
        <p:spPr>
          <a:xfrm>
            <a:off x="-26789" y="2040108"/>
            <a:ext cx="9197647" cy="38096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2"/>
          <p:cNvSpPr txBox="1"/>
          <p:nvPr/>
        </p:nvSpPr>
        <p:spPr>
          <a:xfrm>
            <a:off x="-1792" y="2589788"/>
            <a:ext cx="9147584" cy="1385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ill Sans"/>
              <a:buNone/>
            </a:pP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This will work in this case! we’ll learn a better way later (clone)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ill Sans"/>
              <a:buNone/>
            </a:pP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Note that </a:t>
            </a:r>
            <a:r>
              <a:rPr b="0" i="0" lang="en" sz="2000" u="none" cap="none" strike="noStrike">
                <a:solidFill>
                  <a:srgbClr val="2F565D"/>
                </a:solidFill>
                <a:latin typeface="Gill Sans"/>
                <a:ea typeface="Gill Sans"/>
                <a:cs typeface="Gill Sans"/>
                <a:sym typeface="Gill Sans"/>
              </a:rPr>
              <a:t>if the</a:t>
            </a: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" sz="2000" u="none" cap="none" strike="noStrike">
                <a:solidFill>
                  <a:srgbClr val="2F565D"/>
                </a:solidFill>
                <a:latin typeface="Gill Sans"/>
                <a:ea typeface="Gill Sans"/>
                <a:cs typeface="Gill Sans"/>
                <a:sym typeface="Gill Sans"/>
              </a:rPr>
              <a:t>parameters were object/reference types</a:t>
            </a: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, we may have to </a:t>
            </a:r>
            <a:r>
              <a:rPr b="0" i="0" lang="en" sz="2000" u="none" cap="none" strike="noStrike">
                <a:solidFill>
                  <a:srgbClr val="2F565D"/>
                </a:solidFill>
                <a:latin typeface="Gill Sans"/>
                <a:ea typeface="Gill Sans"/>
                <a:cs typeface="Gill Sans"/>
                <a:sym typeface="Gill Sans"/>
              </a:rPr>
              <a:t>DEEP copy</a:t>
            </a: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" sz="2000" u="none" cap="none" strike="noStrike">
                <a:solidFill>
                  <a:srgbClr val="5E8B93"/>
                </a:solidFill>
                <a:latin typeface="Gill Sans"/>
                <a:ea typeface="Gill Sans"/>
                <a:cs typeface="Gill Sans"/>
                <a:sym typeface="Gill Sans"/>
              </a:rPr>
              <a:t>them</a:t>
            </a: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 with</a:t>
            </a:r>
            <a:r>
              <a:rPr b="0" i="0" lang="en" sz="2000" u="none" cap="none" strike="noStrike">
                <a:solidFill>
                  <a:srgbClr val="5E8B93"/>
                </a:solidFill>
                <a:latin typeface="Gill Sans"/>
                <a:ea typeface="Gill Sans"/>
                <a:cs typeface="Gill Sans"/>
                <a:sym typeface="Gill Sans"/>
              </a:rPr>
              <a:t>in</a:t>
            </a: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 the body of </a:t>
            </a:r>
            <a:r>
              <a:rPr b="0" i="0" lang="en" sz="2000" u="none" cap="none" strike="noStrike">
                <a:solidFill>
                  <a:srgbClr val="2F565D"/>
                </a:solidFill>
                <a:latin typeface="Gill Sans"/>
                <a:ea typeface="Gill Sans"/>
                <a:cs typeface="Gill Sans"/>
                <a:sym typeface="Gill Sans"/>
              </a:rPr>
              <a:t>the constructor</a:t>
            </a:r>
            <a:r>
              <a:rPr b="0" i="0" lang="en" sz="20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 (sometimes we don’t need a deep copy of these, more on this later)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Gill Sans"/>
              <a:buNone/>
            </a:pPr>
            <a:r>
              <a:rPr b="0" i="0" lang="en" sz="13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(</a:t>
            </a:r>
            <a:r>
              <a:rPr b="0" i="0" lang="en" sz="1300" u="sng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String</a:t>
            </a:r>
            <a:r>
              <a:rPr b="0" i="0" lang="en" sz="13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 in this case</a:t>
            </a:r>
            <a:r>
              <a:rPr b="0" i="0" lang="en" sz="1300" u="sng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 acts like a primitive type</a:t>
            </a:r>
            <a:r>
              <a:rPr b="0" i="0" lang="en" sz="13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, don’t worry about this right now)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52"/>
          <p:cNvCxnSpPr/>
          <p:nvPr/>
        </p:nvCxnSpPr>
        <p:spPr>
          <a:xfrm rot="10800000">
            <a:off x="2025557" y="1017038"/>
            <a:ext cx="4985109" cy="371502"/>
          </a:xfrm>
          <a:prstGeom prst="straightConnector1">
            <a:avLst/>
          </a:prstGeom>
          <a:noFill/>
          <a:ln cap="flat" cmpd="sng" w="76200">
            <a:solidFill>
              <a:srgbClr val="EC393A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376" name="Google Shape;376;p52"/>
          <p:cNvSpPr txBox="1"/>
          <p:nvPr/>
        </p:nvSpPr>
        <p:spPr>
          <a:xfrm>
            <a:off x="3680854" y="4353529"/>
            <a:ext cx="1782292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5"/>
              </a:rPr>
              <a:t>click here for code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/>
          <p:nvPr/>
        </p:nvSpPr>
        <p:spPr>
          <a:xfrm>
            <a:off x="3927822" y="3680076"/>
            <a:ext cx="4905985" cy="1457769"/>
          </a:xfrm>
          <a:prstGeom prst="rect">
            <a:avLst/>
          </a:prstGeom>
          <a:solidFill>
            <a:srgbClr val="FFF5FD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2" name="Google Shape;382;p53"/>
          <p:cNvSpPr txBox="1"/>
          <p:nvPr>
            <p:ph idx="4294967295" type="ctrTitle"/>
          </p:nvPr>
        </p:nvSpPr>
        <p:spPr>
          <a:xfrm>
            <a:off x="15602" y="-18540"/>
            <a:ext cx="9112797" cy="105011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500"/>
              <a:buFont typeface="Gill Sans"/>
              <a:buNone/>
            </a:pPr>
            <a:r>
              <a:rPr b="0" i="0" lang="en" sz="35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SOMETIMES WE WANT A DEEP COPY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500"/>
              <a:buFont typeface="Gill Sans"/>
              <a:buNone/>
            </a:pPr>
            <a:r>
              <a:rPr b="0" i="0" lang="en" sz="35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SOMETIMES WE WANT A SHALLOW COPY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3" name="Google Shape;383;p53"/>
          <p:cNvSpPr txBox="1"/>
          <p:nvPr>
            <p:ph idx="4294967295" type="subTitle"/>
          </p:nvPr>
        </p:nvSpPr>
        <p:spPr>
          <a:xfrm>
            <a:off x="250031" y="1035917"/>
            <a:ext cx="8643937" cy="417219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2000"/>
              <a:buFont typeface="Gill Sans"/>
              <a:buNone/>
            </a:pPr>
            <a:r>
              <a:rPr b="0" i="0" lang="en" sz="20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We will see situations this semester when we will have shallow copies and deep copies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4" name="Google Shape;384;p53"/>
          <p:cNvSpPr/>
          <p:nvPr/>
        </p:nvSpPr>
        <p:spPr>
          <a:xfrm>
            <a:off x="30566" y="2976199"/>
            <a:ext cx="1537266" cy="1049810"/>
          </a:xfrm>
          <a:prstGeom prst="rect">
            <a:avLst/>
          </a:prstGeom>
          <a:noFill/>
          <a:ln cap="flat" cmpd="sng" w="25400">
            <a:solidFill>
              <a:srgbClr val="808785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5" name="Google Shape;385;p53"/>
          <p:cNvSpPr/>
          <p:nvPr/>
        </p:nvSpPr>
        <p:spPr>
          <a:xfrm>
            <a:off x="2834029" y="2773645"/>
            <a:ext cx="1475577" cy="857250"/>
          </a:xfrm>
          <a:prstGeom prst="rect">
            <a:avLst/>
          </a:prstGeom>
          <a:noFill/>
          <a:ln cap="flat" cmpd="sng" w="25400">
            <a:solidFill>
              <a:srgbClr val="808785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6" name="Google Shape;386;p53"/>
          <p:cNvSpPr txBox="1"/>
          <p:nvPr/>
        </p:nvSpPr>
        <p:spPr>
          <a:xfrm>
            <a:off x="2712879" y="2226404"/>
            <a:ext cx="1717877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memory location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0x447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3"/>
          <p:cNvSpPr txBox="1"/>
          <p:nvPr/>
        </p:nvSpPr>
        <p:spPr>
          <a:xfrm>
            <a:off x="2791130" y="2781498"/>
            <a:ext cx="156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name=“Ashok”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age=…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3"/>
          <p:cNvSpPr txBox="1"/>
          <p:nvPr/>
        </p:nvSpPr>
        <p:spPr>
          <a:xfrm>
            <a:off x="22814" y="3035368"/>
            <a:ext cx="1552771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ashtrash=0x447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53"/>
          <p:cNvCxnSpPr/>
          <p:nvPr/>
        </p:nvCxnSpPr>
        <p:spPr>
          <a:xfrm>
            <a:off x="20019" y="3549038"/>
            <a:ext cx="1558360" cy="0"/>
          </a:xfrm>
          <a:prstGeom prst="straightConnector1">
            <a:avLst/>
          </a:prstGeom>
          <a:noFill/>
          <a:ln cap="flat" cmpd="sng" w="25400">
            <a:solidFill>
              <a:srgbClr val="5A5F5E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390" name="Google Shape;390;p53"/>
          <p:cNvSpPr txBox="1"/>
          <p:nvPr/>
        </p:nvSpPr>
        <p:spPr>
          <a:xfrm>
            <a:off x="193152" y="3621835"/>
            <a:ext cx="1212094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ash2=0x992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3"/>
          <p:cNvSpPr/>
          <p:nvPr/>
        </p:nvSpPr>
        <p:spPr>
          <a:xfrm>
            <a:off x="2225303" y="4397551"/>
            <a:ext cx="1475577" cy="1049810"/>
          </a:xfrm>
          <a:prstGeom prst="rect">
            <a:avLst/>
          </a:prstGeom>
          <a:noFill/>
          <a:ln cap="flat" cmpd="sng" w="25400">
            <a:solidFill>
              <a:srgbClr val="808785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2" name="Google Shape;392;p53"/>
          <p:cNvSpPr txBox="1"/>
          <p:nvPr/>
        </p:nvSpPr>
        <p:spPr>
          <a:xfrm>
            <a:off x="2104153" y="3764256"/>
            <a:ext cx="1717877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memory location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0x992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3"/>
          <p:cNvSpPr txBox="1"/>
          <p:nvPr/>
        </p:nvSpPr>
        <p:spPr>
          <a:xfrm>
            <a:off x="2182404" y="4473879"/>
            <a:ext cx="156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name=“Ashok”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age=…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53"/>
          <p:cNvCxnSpPr/>
          <p:nvPr/>
        </p:nvCxnSpPr>
        <p:spPr>
          <a:xfrm flipH="1" rot="10800000">
            <a:off x="1566965" y="2415665"/>
            <a:ext cx="1048031" cy="840818"/>
          </a:xfrm>
          <a:prstGeom prst="straightConnector1">
            <a:avLst/>
          </a:prstGeom>
          <a:noFill/>
          <a:ln cap="flat" cmpd="sng" w="50800">
            <a:solidFill>
              <a:srgbClr val="9D46A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395" name="Google Shape;395;p53"/>
          <p:cNvCxnSpPr/>
          <p:nvPr/>
        </p:nvCxnSpPr>
        <p:spPr>
          <a:xfrm>
            <a:off x="1566965" y="3715248"/>
            <a:ext cx="585168" cy="298758"/>
          </a:xfrm>
          <a:prstGeom prst="straightConnector1">
            <a:avLst/>
          </a:prstGeom>
          <a:noFill/>
          <a:ln cap="flat" cmpd="sng" w="50800">
            <a:solidFill>
              <a:srgbClr val="9D46A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96" name="Google Shape;396;p53"/>
          <p:cNvSpPr/>
          <p:nvPr/>
        </p:nvSpPr>
        <p:spPr>
          <a:xfrm>
            <a:off x="4940057" y="2469170"/>
            <a:ext cx="2138659" cy="1049810"/>
          </a:xfrm>
          <a:prstGeom prst="rect">
            <a:avLst/>
          </a:prstGeom>
          <a:noFill/>
          <a:ln cap="flat" cmpd="sng" w="25400">
            <a:solidFill>
              <a:srgbClr val="808785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97" name="Google Shape;397;p53"/>
          <p:cNvCxnSpPr/>
          <p:nvPr/>
        </p:nvCxnSpPr>
        <p:spPr>
          <a:xfrm>
            <a:off x="4929510" y="2994074"/>
            <a:ext cx="2159752" cy="0"/>
          </a:xfrm>
          <a:prstGeom prst="straightConnector1">
            <a:avLst/>
          </a:prstGeom>
          <a:noFill/>
          <a:ln cap="flat" cmpd="sng" w="25400">
            <a:solidFill>
              <a:srgbClr val="5A5F5E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398" name="Google Shape;398;p53"/>
          <p:cNvSpPr txBox="1"/>
          <p:nvPr/>
        </p:nvSpPr>
        <p:spPr>
          <a:xfrm>
            <a:off x="4932305" y="2611715"/>
            <a:ext cx="1552771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ashtrash=0x447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3"/>
          <p:cNvSpPr txBox="1"/>
          <p:nvPr/>
        </p:nvSpPr>
        <p:spPr>
          <a:xfrm>
            <a:off x="5102643" y="3066872"/>
            <a:ext cx="1212094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ash2=0x447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3"/>
          <p:cNvSpPr/>
          <p:nvPr/>
        </p:nvSpPr>
        <p:spPr>
          <a:xfrm>
            <a:off x="7465568" y="2644718"/>
            <a:ext cx="1475577" cy="857250"/>
          </a:xfrm>
          <a:prstGeom prst="rect">
            <a:avLst/>
          </a:prstGeom>
          <a:noFill/>
          <a:ln cap="flat" cmpd="sng" w="25400">
            <a:solidFill>
              <a:srgbClr val="808785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t/>
            </a:r>
            <a:endParaRPr b="0" i="0" sz="19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1" name="Google Shape;401;p53"/>
          <p:cNvSpPr txBox="1"/>
          <p:nvPr/>
        </p:nvSpPr>
        <p:spPr>
          <a:xfrm>
            <a:off x="7344418" y="2104105"/>
            <a:ext cx="1717877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memory location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0x447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3"/>
          <p:cNvSpPr txBox="1"/>
          <p:nvPr/>
        </p:nvSpPr>
        <p:spPr>
          <a:xfrm>
            <a:off x="7422669" y="2798899"/>
            <a:ext cx="156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name=“Ashok”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age=…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53"/>
          <p:cNvCxnSpPr/>
          <p:nvPr/>
        </p:nvCxnSpPr>
        <p:spPr>
          <a:xfrm>
            <a:off x="6989215" y="2824301"/>
            <a:ext cx="472047" cy="79070"/>
          </a:xfrm>
          <a:prstGeom prst="straightConnector1">
            <a:avLst/>
          </a:prstGeom>
          <a:noFill/>
          <a:ln cap="flat" cmpd="sng" w="50800">
            <a:solidFill>
              <a:srgbClr val="9D46A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04" name="Google Shape;404;p53"/>
          <p:cNvCxnSpPr/>
          <p:nvPr/>
        </p:nvCxnSpPr>
        <p:spPr>
          <a:xfrm flipH="1" rot="10800000">
            <a:off x="7068074" y="3131115"/>
            <a:ext cx="441361" cy="189285"/>
          </a:xfrm>
          <a:prstGeom prst="straightConnector1">
            <a:avLst/>
          </a:prstGeom>
          <a:noFill/>
          <a:ln cap="flat" cmpd="sng" w="50800">
            <a:solidFill>
              <a:srgbClr val="9D46A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05" name="Google Shape;405;p53"/>
          <p:cNvSpPr txBox="1"/>
          <p:nvPr/>
        </p:nvSpPr>
        <p:spPr>
          <a:xfrm>
            <a:off x="-121539" y="1336035"/>
            <a:ext cx="4278520" cy="823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744A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79744A"/>
                </a:solidFill>
                <a:latin typeface="Gill Sans"/>
                <a:ea typeface="Gill Sans"/>
                <a:cs typeface="Gill Sans"/>
                <a:sym typeface="Gill Sans"/>
              </a:rPr>
              <a:t>DEEP COPY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Gill Sans"/>
              <a:buNone/>
            </a:pPr>
            <a:r>
              <a:rPr b="0" i="0" lang="en" sz="18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two objects pointing to different memory locations but with  same values..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3"/>
          <p:cNvSpPr txBox="1"/>
          <p:nvPr/>
        </p:nvSpPr>
        <p:spPr>
          <a:xfrm>
            <a:off x="4685292" y="1457479"/>
            <a:ext cx="4444571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8B9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E8B93"/>
                </a:solidFill>
                <a:latin typeface="Gill Sans"/>
                <a:ea typeface="Gill Sans"/>
                <a:cs typeface="Gill Sans"/>
                <a:sym typeface="Gill Sans"/>
              </a:rPr>
              <a:t>SHALLOW COPY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two objects pointing to same memory location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3"/>
          <p:cNvSpPr txBox="1"/>
          <p:nvPr/>
        </p:nvSpPr>
        <p:spPr>
          <a:xfrm>
            <a:off x="4087008" y="3708298"/>
            <a:ext cx="4234721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8B9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E8B93"/>
                </a:solidFill>
                <a:latin typeface="Gill Sans"/>
                <a:ea typeface="Gill Sans"/>
                <a:cs typeface="Gill Sans"/>
                <a:sym typeface="Gill Sans"/>
              </a:rPr>
              <a:t>Shallow copy: If we want a change in the object to yield a change in all the references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3"/>
          <p:cNvSpPr txBox="1"/>
          <p:nvPr/>
        </p:nvSpPr>
        <p:spPr>
          <a:xfrm>
            <a:off x="3947224" y="4473879"/>
            <a:ext cx="4714621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744A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79744A"/>
                </a:solidFill>
                <a:latin typeface="Gill Sans"/>
                <a:ea typeface="Gill Sans"/>
                <a:cs typeface="Gill Sans"/>
                <a:sym typeface="Gill Sans"/>
              </a:rPr>
              <a:t>Deep Copy: If we want a change in the object to not yield a change in all the references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4"/>
          <p:cNvSpPr txBox="1"/>
          <p:nvPr>
            <p:ph idx="4294967295" type="ctrTitle"/>
          </p:nvPr>
        </p:nvSpPr>
        <p:spPr>
          <a:xfrm>
            <a:off x="250031" y="69001"/>
            <a:ext cx="8643937" cy="571832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700"/>
              <a:buFont typeface="Gill Sans"/>
              <a:buNone/>
            </a:pPr>
            <a:r>
              <a:rPr b="0" i="0" lang="en" sz="37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WHY DO WE NEED A TOSTRING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4" name="Google Shape;414;p54"/>
          <p:cNvSpPr txBox="1"/>
          <p:nvPr/>
        </p:nvSpPr>
        <p:spPr>
          <a:xfrm>
            <a:off x="1178330" y="1518123"/>
            <a:ext cx="6792102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610C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8F610C"/>
                </a:solidFill>
                <a:latin typeface="Gill Sans"/>
                <a:ea typeface="Gill Sans"/>
                <a:cs typeface="Gill Sans"/>
                <a:sym typeface="Gill Sans"/>
              </a:rPr>
              <a:t>toString</a:t>
            </a:r>
            <a:r>
              <a:rPr b="0" i="0" lang="en" sz="1900" u="none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 allows us to convert our </a:t>
            </a:r>
            <a:r>
              <a:rPr b="0" i="0" lang="en" sz="1900" u="none" cap="none" strike="noStrike">
                <a:solidFill>
                  <a:srgbClr val="B27A12"/>
                </a:solidFill>
                <a:latin typeface="Gill Sans"/>
                <a:ea typeface="Gill Sans"/>
                <a:cs typeface="Gill Sans"/>
                <a:sym typeface="Gill Sans"/>
              </a:rPr>
              <a:t>reference type to a string</a:t>
            </a:r>
            <a:r>
              <a:rPr b="0" i="0" lang="en" sz="1900" u="none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—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We get to </a:t>
            </a:r>
            <a:r>
              <a:rPr b="0" i="0" lang="en" sz="1900" u="none" cap="none" strike="noStrike">
                <a:solidFill>
                  <a:srgbClr val="730C00"/>
                </a:solidFill>
                <a:latin typeface="Gill Sans"/>
                <a:ea typeface="Gill Sans"/>
                <a:cs typeface="Gill Sans"/>
                <a:sym typeface="Gill Sans"/>
              </a:rPr>
              <a:t>pick the format</a:t>
            </a:r>
            <a:r>
              <a:rPr b="0" i="0" lang="en" sz="1900" u="none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 and the </a:t>
            </a:r>
            <a:r>
              <a:rPr b="0" i="0" lang="en" sz="1900" u="none" cap="none" strike="noStrike">
                <a:solidFill>
                  <a:srgbClr val="730C00"/>
                </a:solidFill>
                <a:latin typeface="Gill Sans"/>
                <a:ea typeface="Gill Sans"/>
                <a:cs typeface="Gill Sans"/>
                <a:sym typeface="Gill Sans"/>
              </a:rPr>
              <a:t>variables</a:t>
            </a:r>
            <a:r>
              <a:rPr b="0" i="0" lang="en" sz="1900" u="none" cap="none" strike="noStrike">
                <a:solidFill>
                  <a:srgbClr val="5A5F5E"/>
                </a:solidFill>
                <a:latin typeface="Gill Sans"/>
                <a:ea typeface="Gill Sans"/>
                <a:cs typeface="Gill Sans"/>
                <a:sym typeface="Gill Sans"/>
              </a:rPr>
              <a:t> we print out to the console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4"/>
          <p:cNvSpPr txBox="1"/>
          <p:nvPr/>
        </p:nvSpPr>
        <p:spPr>
          <a:xfrm>
            <a:off x="1496741" y="740181"/>
            <a:ext cx="6155281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In primitives, the string representation is obvious— i.e. if int x=4;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Our string representation of this will be “4”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4"/>
          <p:cNvSpPr txBox="1"/>
          <p:nvPr/>
        </p:nvSpPr>
        <p:spPr>
          <a:xfrm>
            <a:off x="279724" y="2485693"/>
            <a:ext cx="8584551" cy="852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For Student we picked a string representation that printed out all the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Private variables, but we could have just as easily just printed out the name and ID number,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or the name and graduation year etc.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4"/>
          <p:cNvSpPr txBox="1"/>
          <p:nvPr/>
        </p:nvSpPr>
        <p:spPr>
          <a:xfrm>
            <a:off x="1948983" y="4502667"/>
            <a:ext cx="5246033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https://repl.it/@ashokbasawapatna/StudentClassExample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5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23" name="Google Shape;423;p55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424" name="Google Shape;42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1" y="0"/>
            <a:ext cx="91218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6"/>
          <p:cNvSpPr txBox="1"/>
          <p:nvPr>
            <p:ph idx="4294967295" type="ctrTitle"/>
          </p:nvPr>
        </p:nvSpPr>
        <p:spPr>
          <a:xfrm>
            <a:off x="250031" y="131471"/>
            <a:ext cx="8643937" cy="520892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300"/>
              <a:buFont typeface="Gill Sans"/>
              <a:buNone/>
            </a:pPr>
            <a:r>
              <a:rPr b="0" i="0" lang="en" sz="33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REFERENCE WRAP UP: NULL REFERENCE</a:t>
            </a:r>
            <a:endParaRPr b="0" i="0" sz="5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0" name="Google Shape;430;p56"/>
          <p:cNvSpPr txBox="1"/>
          <p:nvPr/>
        </p:nvSpPr>
        <p:spPr>
          <a:xfrm>
            <a:off x="1864393" y="1034827"/>
            <a:ext cx="5419976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7A12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B27A12"/>
                </a:solidFill>
                <a:latin typeface="Gill Sans"/>
                <a:ea typeface="Gill Sans"/>
                <a:cs typeface="Gill Sans"/>
                <a:sym typeface="Gill Sans"/>
              </a:rPr>
              <a:t>TPS: Try the following Code and Describe What Happens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6"/>
          <p:cNvSpPr txBox="1"/>
          <p:nvPr/>
        </p:nvSpPr>
        <p:spPr>
          <a:xfrm>
            <a:off x="1689115" y="1851758"/>
            <a:ext cx="5765769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Comment out the code a the bottom here: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https://repl.it/@ashokbasawapatna/Object-Types-Vs-Primitives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6"/>
          <p:cNvSpPr txBox="1"/>
          <p:nvPr/>
        </p:nvSpPr>
        <p:spPr>
          <a:xfrm>
            <a:off x="1161996" y="2877683"/>
            <a:ext cx="6820007" cy="309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Can you run it? What happens when you hoover your mouse over ash5?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0647" y="3304213"/>
            <a:ext cx="2487470" cy="590632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6"/>
          <p:cNvSpPr txBox="1"/>
          <p:nvPr/>
        </p:nvSpPr>
        <p:spPr>
          <a:xfrm>
            <a:off x="938580" y="3974577"/>
            <a:ext cx="7266841" cy="852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If we don’t want our reference to point to anything, we point it null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when a reference is created and is not pointed to something, it points to null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900"/>
              <a:buFont typeface="Gill Sans"/>
              <a:buNone/>
            </a:pPr>
            <a:r>
              <a:rPr b="0" i="0" lang="en" sz="19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rPr>
              <a:t>More on this next lecture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45" name="Google Shape;445;p58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446" name="Google Shape;44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453" name="Google Shape;45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0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59" name="Google Shape;459;p60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460" name="Google Shape;46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66" name="Google Shape;466;p61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467" name="Google Shape;46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2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73" name="Google Shape;473;p62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474" name="Google Shape;47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3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80" name="Google Shape;480;p63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481" name="Google Shape;48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87" name="Google Shape;487;p64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488" name="Google Shape;48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5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494" name="Google Shape;494;p65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495" name="Google Shape;49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6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01" name="Google Shape;501;p66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02" name="Google Shape;50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7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08" name="Google Shape;508;p67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09" name="Google Shape;50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8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15" name="Google Shape;515;p68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16" name="Google Shape;51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68"/>
          <p:cNvSpPr txBox="1"/>
          <p:nvPr/>
        </p:nvSpPr>
        <p:spPr>
          <a:xfrm>
            <a:off x="0" y="0"/>
            <a:ext cx="3000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https://repl.it/@ashokbasawapatna/InheritanceExample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9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23" name="Google Shape;523;p69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24" name="Google Shape;52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0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30" name="Google Shape;530;p70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31" name="Google Shape;53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1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37" name="Google Shape;537;p71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38" name="Google Shape;53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2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44" name="Google Shape;544;p72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45" name="Google Shape;54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3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51" name="Google Shape;551;p73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52" name="Google Shape;55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73"/>
          <p:cNvSpPr/>
          <p:nvPr/>
        </p:nvSpPr>
        <p:spPr>
          <a:xfrm>
            <a:off x="718850" y="2825825"/>
            <a:ext cx="2466300" cy="297600"/>
          </a:xfrm>
          <a:prstGeom prst="rect">
            <a:avLst/>
          </a:prstGeom>
          <a:solidFill>
            <a:srgbClr val="806B74">
              <a:alpha val="34509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4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59" name="Google Shape;559;p74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60" name="Google Shape;56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5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66" name="Google Shape;566;p75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67" name="Google Shape;56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6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73" name="Google Shape;573;p76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74" name="Google Shape;574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76"/>
          <p:cNvSpPr txBox="1"/>
          <p:nvPr/>
        </p:nvSpPr>
        <p:spPr>
          <a:xfrm>
            <a:off x="0" y="0"/>
            <a:ext cx="3000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https://repl.it/@ashokbasawapatna/CompositionExample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7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81" name="Google Shape;581;p77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82" name="Google Shape;58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7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https://repl.it/@ashokbasawapatna/CompositionExample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8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89" name="Google Shape;589;p78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90" name="Google Shape;59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78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https://repl.it/@ashokbasawapatna/CompositionExample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9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97" name="Google Shape;597;p79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598" name="Google Shape;59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79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https://repl.it/@ashokbasawapatna/CompositionExample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0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605" name="Google Shape;605;p80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606" name="Google Shape;60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80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https://repl.it/@ashokbasawapatna/CompositionExample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1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613" name="Google Shape;613;p81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614" name="Google Shape;61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81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https://repl.it/@ashokbasawapatna/CompositionExample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2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621" name="Google Shape;621;p82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622" name="Google Shape;622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82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https://repl.it/@ashokbasawapatna/CompositionExample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3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629" name="Google Shape;629;p83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630" name="Google Shape;63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83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https://repl.it/@ashokbasawapatna/CompositionExample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4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637" name="Google Shape;637;p84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638" name="Google Shape;63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5"/>
          <p:cNvSpPr txBox="1"/>
          <p:nvPr>
            <p:ph type="title"/>
          </p:nvPr>
        </p:nvSpPr>
        <p:spPr>
          <a:xfrm>
            <a:off x="252413" y="1076325"/>
            <a:ext cx="86439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644" name="Google Shape;644;p85"/>
          <p:cNvSpPr txBox="1"/>
          <p:nvPr>
            <p:ph idx="1" type="body"/>
          </p:nvPr>
        </p:nvSpPr>
        <p:spPr>
          <a:xfrm>
            <a:off x="252413" y="2781300"/>
            <a:ext cx="8643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pic>
        <p:nvPicPr>
          <p:cNvPr id="645" name="Google Shape;64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